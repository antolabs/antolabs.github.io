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6"/>
  </p:notesMasterIdLst>
  <p:handoutMasterIdLst>
    <p:handoutMasterId r:id="rId17"/>
  </p:handoutMasterIdLst>
  <p:sldIdLst>
    <p:sldId id="745" r:id="rId5"/>
    <p:sldId id="748" r:id="rId6"/>
    <p:sldId id="749" r:id="rId7"/>
    <p:sldId id="750" r:id="rId8"/>
    <p:sldId id="751" r:id="rId9"/>
    <p:sldId id="752" r:id="rId10"/>
    <p:sldId id="778" r:id="rId11"/>
    <p:sldId id="779" r:id="rId12"/>
    <p:sldId id="753" r:id="rId13"/>
    <p:sldId id="776" r:id="rId14"/>
    <p:sldId id="777" r:id="rId15"/>
  </p:sldIdLst>
  <p:sldSz cx="13004800" cy="7315200"/>
  <p:notesSz cx="9236075" cy="6950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B53C"/>
    <a:srgbClr val="FFCC70"/>
    <a:srgbClr val="FD7373"/>
    <a:srgbClr val="E2B5B8"/>
    <a:srgbClr val="8AC4E2"/>
    <a:srgbClr val="EFF71F"/>
    <a:srgbClr val="A8D3A8"/>
    <a:srgbClr val="DE8066"/>
    <a:srgbClr val="E6E6E6"/>
    <a:srgbClr val="EBB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0799" autoAdjust="0"/>
  </p:normalViewPr>
  <p:slideViewPr>
    <p:cSldViewPr snapToGrid="0">
      <p:cViewPr varScale="1">
        <p:scale>
          <a:sx n="102" d="100"/>
          <a:sy n="102" d="100"/>
        </p:scale>
        <p:origin x="114" y="90"/>
      </p:cViewPr>
      <p:guideLst>
        <p:guide orient="horz" pos="2304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13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02299" cy="348710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31639" y="1"/>
            <a:ext cx="4002299" cy="348710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78326ABB-3EEB-47B7-AD7F-CF23ED7FE83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01366"/>
            <a:ext cx="4002299" cy="348709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31639" y="6601366"/>
            <a:ext cx="4002299" cy="348709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ADADF62D-6416-4B58-9969-1681054BE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02299" cy="348710"/>
          </a:xfrm>
          <a:prstGeom prst="rect">
            <a:avLst/>
          </a:prstGeom>
        </p:spPr>
        <p:txBody>
          <a:bodyPr vert="horz" lIns="92481" tIns="46241" rIns="92481" bIns="4624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1639" y="1"/>
            <a:ext cx="4002299" cy="348710"/>
          </a:xfrm>
          <a:prstGeom prst="rect">
            <a:avLst/>
          </a:prstGeom>
        </p:spPr>
        <p:txBody>
          <a:bodyPr vert="horz" lIns="92481" tIns="46241" rIns="92481" bIns="46241" rtlCol="0"/>
          <a:lstStyle>
            <a:lvl1pPr algn="r">
              <a:defRPr sz="1200"/>
            </a:lvl1pPr>
          </a:lstStyle>
          <a:p>
            <a:fld id="{666E12AD-0F3F-457A-995A-447FB9AC83D6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3650" y="868363"/>
            <a:ext cx="4168775" cy="2344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1" tIns="46241" rIns="92481" bIns="4624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608" y="3344725"/>
            <a:ext cx="7388860" cy="2736592"/>
          </a:xfrm>
          <a:prstGeom prst="rect">
            <a:avLst/>
          </a:prstGeom>
        </p:spPr>
        <p:txBody>
          <a:bodyPr vert="horz" lIns="92481" tIns="46241" rIns="92481" bIns="4624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01366"/>
            <a:ext cx="4002299" cy="348709"/>
          </a:xfrm>
          <a:prstGeom prst="rect">
            <a:avLst/>
          </a:prstGeom>
        </p:spPr>
        <p:txBody>
          <a:bodyPr vert="horz" lIns="92481" tIns="46241" rIns="92481" bIns="4624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1639" y="6601366"/>
            <a:ext cx="4002299" cy="348709"/>
          </a:xfrm>
          <a:prstGeom prst="rect">
            <a:avLst/>
          </a:prstGeom>
        </p:spPr>
        <p:txBody>
          <a:bodyPr vert="horz" lIns="92481" tIns="46241" rIns="92481" bIns="46241" rtlCol="0" anchor="b"/>
          <a:lstStyle>
            <a:lvl1pPr algn="r">
              <a:defRPr sz="1200"/>
            </a:lvl1pPr>
          </a:lstStyle>
          <a:p>
            <a:fld id="{1FDF26B1-DE9A-4EC9-A610-93C778CE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50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533650" y="868363"/>
            <a:ext cx="4168775" cy="234473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Rectangle 2051"/>
          <p:cNvSpPr>
            <a:spLocks noGrp="1"/>
          </p:cNvSpPr>
          <p:nvPr>
            <p:ph type="body" idx="1"/>
          </p:nvPr>
        </p:nvSpPr>
        <p:spPr bwMode="auto">
          <a:xfrm>
            <a:off x="921935" y="3340848"/>
            <a:ext cx="7375451" cy="3164441"/>
          </a:xfrm>
          <a:prstGeom prst="rect">
            <a:avLst/>
          </a:prstGeom>
          <a:noFill/>
        </p:spPr>
        <p:txBody>
          <a:bodyPr/>
          <a:lstStyle/>
          <a:p>
            <a:endParaRPr lang="en-US" dirty="0"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77545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07417" y="1320800"/>
            <a:ext cx="10652411" cy="4771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2210" tIns="46105" rIns="92210" bIns="46105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2773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167467" y="4343401"/>
            <a:ext cx="8669867" cy="1219200"/>
          </a:xfrm>
        </p:spPr>
        <p:txBody>
          <a:bodyPr/>
          <a:lstStyle>
            <a:lvl1pPr marL="0" indent="0" algn="ctr">
              <a:buNone/>
              <a:defRPr/>
            </a:lvl1pPr>
            <a:lvl2pPr marL="461110" indent="0" algn="ctr">
              <a:buNone/>
              <a:defRPr/>
            </a:lvl2pPr>
            <a:lvl3pPr marL="922217" indent="0" algn="ctr">
              <a:buNone/>
              <a:defRPr/>
            </a:lvl3pPr>
            <a:lvl4pPr marL="1383325" indent="0" algn="ctr">
              <a:buNone/>
              <a:defRPr/>
            </a:lvl4pPr>
            <a:lvl5pPr marL="1844435" indent="0" algn="ctr">
              <a:buNone/>
              <a:defRPr/>
            </a:lvl5pPr>
            <a:lvl6pPr marL="2305543" indent="0" algn="ctr">
              <a:buNone/>
              <a:defRPr/>
            </a:lvl6pPr>
            <a:lvl7pPr marL="2766652" indent="0" algn="ctr">
              <a:buNone/>
              <a:defRPr/>
            </a:lvl7pPr>
            <a:lvl8pPr marL="3227758" indent="0" algn="ctr">
              <a:buNone/>
              <a:defRPr/>
            </a:lvl8pPr>
            <a:lvl9pPr marL="368886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6" y="3357103"/>
            <a:ext cx="12801599" cy="510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6061" tIns="22425" rIns="56061" bIns="22425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0" y="6812965"/>
            <a:ext cx="13004800" cy="454149"/>
          </a:xfrm>
          <a:prstGeom prst="rect">
            <a:avLst/>
          </a:prstGeom>
          <a:noFill/>
        </p:spPr>
        <p:txBody>
          <a:bodyPr wrap="square" lIns="92252" tIns="46126" rIns="92252" bIns="46126" rtlCol="0">
            <a:spAutoFit/>
          </a:bodyPr>
          <a:lstStyle/>
          <a:p>
            <a:pPr algn="ctr"/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This material is based upon work supported by the U.S. Department of Energy, Office of Science, Office of Nuclear Physics and used resources of</a:t>
            </a:r>
          </a:p>
          <a:p>
            <a:pPr algn="ctr"/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the</a:t>
            </a:r>
            <a:r>
              <a:rPr lang="en-US" sz="1173" kern="1200" baseline="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 </a:t>
            </a:r>
            <a:r>
              <a:rPr lang="en-US" sz="1173" kern="1200" dirty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Facility for Rare Isotope Beams (FRIB) Operations, which is a DOE Office of Science User Facility under Award Number DE-SC0023633.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282897" y="442928"/>
            <a:ext cx="3901440" cy="2239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583032"/>
            <a:ext cx="1706880" cy="218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0" y="6018699"/>
            <a:ext cx="3413760" cy="7480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55" y="6019159"/>
            <a:ext cx="2828544" cy="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2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266624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6502401" y="6780213"/>
            <a:ext cx="5418674" cy="388937"/>
          </a:xfrm>
        </p:spPr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frib.msu.edu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4551360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5770880"/>
            <a:ext cx="13004800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0" y="6407568"/>
            <a:ext cx="13004800" cy="81280"/>
          </a:xfrm>
          <a:prstGeom prst="rect">
            <a:avLst/>
          </a:prstGeom>
          <a:solidFill>
            <a:srgbClr val="00663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5770880"/>
            <a:ext cx="12895462" cy="623147"/>
          </a:xfrm>
        </p:spPr>
        <p:txBody>
          <a:bodyPr anchor="ctr"/>
          <a:lstStyle>
            <a:lvl1pPr marL="146257" indent="0">
              <a:spcBef>
                <a:spcPts val="0"/>
              </a:spcBef>
              <a:buNone/>
              <a:defRPr b="1" baseline="0"/>
            </a:lvl1pPr>
          </a:lstStyle>
          <a:p>
            <a:pPr lvl="0"/>
            <a:r>
              <a:rPr lang="en-US" dirty="0"/>
              <a:t>Add takeaway message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78500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4" y="1138240"/>
            <a:ext cx="6290816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605618" y="1143008"/>
            <a:ext cx="6290812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4F88C639-55E7-4D97-AC8D-4B42A6736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54622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6" y="1138246"/>
            <a:ext cx="12788059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108376" y="3820168"/>
            <a:ext cx="12788059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BCDB990A-6268-4898-A641-7F04AAB15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2674047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8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5" y="1138246"/>
            <a:ext cx="6285653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578538" y="1138246"/>
            <a:ext cx="631790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108388" y="3820168"/>
            <a:ext cx="628565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578538" y="3820168"/>
            <a:ext cx="6317902" cy="25955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74887700-F8AD-4E75-9DA6-99EB4D27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44931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4" name="Picture 5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CF988859-7953-4624-98C4-717249B46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13195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151" y="6467682"/>
            <a:ext cx="13004800" cy="877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56530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74505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965237"/>
            <a:ext cx="9753600" cy="177872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BB48-2997-4352-B8C4-DBD3AEB7C3F2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6C6-36C9-46CA-99DF-7FCD28A98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518" y="85256"/>
            <a:ext cx="12789774" cy="5105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6076" tIns="22431" rIns="56076" bIns="22431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18" y="1138240"/>
            <a:ext cx="12789774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888974" y="6780213"/>
            <a:ext cx="6032101" cy="388937"/>
          </a:xfrm>
          <a:prstGeom prst="rect">
            <a:avLst/>
          </a:prstGeom>
        </p:spPr>
        <p:txBody>
          <a:bodyPr lIns="0" tIns="45712" rIns="0" bIns="45712" anchor="b"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/>
              <a:t>A. Presenter, Monthly Slides, Date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921067" y="6780213"/>
            <a:ext cx="1083733" cy="388937"/>
          </a:xfrm>
          <a:prstGeom prst="rect">
            <a:avLst/>
          </a:prstGeom>
        </p:spPr>
        <p:txBody>
          <a:bodyPr vert="horz" wrap="square" lIns="0" tIns="45712" rIns="0" bIns="45712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0000"/>
              </a:lnSpc>
              <a:defRPr sz="1280">
                <a:solidFill>
                  <a:srgbClr val="064308"/>
                </a:solidFill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, Slide </a:t>
            </a:r>
            <a:fld id="{D30A2C6D-39BC-4576-856C-8743CF76C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7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hf hdr="0" dt="0"/>
  <p:txStyles>
    <p:titleStyle>
      <a:lvl1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8756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6pPr>
      <a:lvl7pPr marL="97513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7pPr>
      <a:lvl8pPr marL="1462703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8pPr>
      <a:lvl9pPr marL="1950272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9pPr>
    </p:titleStyle>
    <p:bodyStyle>
      <a:lvl1pPr marL="192214" indent="-192214" algn="l" defTabSz="856955" rtl="0" eaLnBrk="1" fontAlgn="base" hangingPunct="1">
        <a:lnSpc>
          <a:spcPct val="90000"/>
        </a:lnSpc>
        <a:spcBef>
          <a:spcPts val="1286"/>
        </a:spcBef>
        <a:spcAft>
          <a:spcPct val="0"/>
        </a:spcAft>
        <a:buSzPct val="100000"/>
        <a:buFont typeface="Wingdings" pitchFamily="2" charset="2"/>
        <a:buChar char="§"/>
        <a:defRPr sz="2347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marL="387632" indent="-161781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Arial" pitchFamily="34" charset="0"/>
        <a:buChar char="•"/>
        <a:defRPr sz="2133">
          <a:solidFill>
            <a:schemeClr val="tx1"/>
          </a:solidFill>
          <a:latin typeface="Arial" charset="0"/>
          <a:ea typeface="ＭＳ Ｐゴシック" charset="-128"/>
          <a:cs typeface="ＭＳ Ｐゴシック"/>
        </a:defRPr>
      </a:lvl2pPr>
      <a:lvl3pPr marL="631103" indent="-171390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Lucida Grande" charset="0"/>
        <a:buChar char="»"/>
        <a:defRPr>
          <a:solidFill>
            <a:schemeClr val="tx1"/>
          </a:solidFill>
          <a:latin typeface="Arial" charset="0"/>
          <a:ea typeface="ヒラギノ角ゴ Pro W3" pitchFamily="-111" charset="-128"/>
          <a:cs typeface="ヒラギノ角ゴ Pro W3" pitchFamily="-111" charset="-128"/>
        </a:defRPr>
      </a:lvl3pPr>
      <a:lvl4pPr marL="776867" indent="-142559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Arial" pitchFamily="34" charset="0"/>
        <a:buChar char="•"/>
        <a:defRPr sz="1707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4pPr>
      <a:lvl5pPr marL="1069993" indent="-192214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Lucida Grande" charset="0"/>
        <a:buChar char="»"/>
        <a:defRPr sz="1493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5pPr>
      <a:lvl6pPr marL="237181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6pPr>
      <a:lvl7pPr marL="285938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7pPr>
      <a:lvl8pPr marL="334695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8pPr>
      <a:lvl9pPr marL="3834522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9pPr>
    </p:bodyStyle>
    <p:otherStyle>
      <a:defPPr>
        <a:defRPr lang="en-US"/>
      </a:defPPr>
      <a:lvl1pPr marL="0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56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13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270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272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784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5411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297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0545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frib.msu.edu/sites/accsystems/accphysicsgroup/_layouts/15/WopiFrame2.aspx?sourcedoc=%7b3994da79-0b61-4eb1-8095-4a21581c53d3%7d&amp;action=default&amp;CT=1761237341720&amp;OR=DocLibClassicU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rtal.frib.msu.edu/sites/accsystems/accphysicsgroup/_layouts/15/WopiFrame2.aspx?sourcedoc=%7b3994da79-0b61-4eb1-8095-4a21581c53d3%7d&amp;action=default&amp;CT=1761237341720&amp;OR=DocLibClassicUI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latin typeface="Arial" pitchFamily="34" charset="0"/>
                <a:ea typeface="ＭＳ Ｐゴシック"/>
                <a:cs typeface="ＭＳ Ｐゴシック"/>
              </a:rPr>
              <a:t>Geunhyeong Lee</a:t>
            </a:r>
          </a:p>
          <a:p>
            <a:r>
              <a:rPr lang="en-US" sz="2800">
                <a:latin typeface="Arial" pitchFamily="34" charset="0"/>
                <a:ea typeface="ＭＳ Ｐゴシック"/>
                <a:cs typeface="ＭＳ Ｐゴシック"/>
              </a:rPr>
              <a:t>10/30/2025</a:t>
            </a:r>
            <a:endParaRPr lang="en-US" sz="2800" dirty="0"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219" name="Title 5"/>
          <p:cNvSpPr>
            <a:spLocks noGrp="1"/>
          </p:cNvSpPr>
          <p:nvPr>
            <p:ph type="title"/>
          </p:nvPr>
        </p:nvSpPr>
        <p:spPr>
          <a:xfrm>
            <a:off x="101606" y="3358630"/>
            <a:ext cx="12801599" cy="507466"/>
          </a:xfrm>
        </p:spPr>
        <p:txBody>
          <a:bodyPr/>
          <a:lstStyle/>
          <a:p>
            <a:r>
              <a:rPr lang="en-US" dirty="0">
                <a:latin typeface="Arial" pitchFamily="34" charset="0"/>
                <a:ea typeface="ＭＳ Ｐゴシック"/>
                <a:cs typeface="ＭＳ Ｐゴシック"/>
              </a:rPr>
              <a:t>LPCS Drift Tube Temperature Comparison</a:t>
            </a:r>
          </a:p>
        </p:txBody>
      </p:sp>
    </p:spTree>
    <p:extLst>
      <p:ext uri="{BB962C8B-B14F-4D97-AF65-F5344CB8AC3E}">
        <p14:creationId xmlns:p14="http://schemas.microsoft.com/office/powerpoint/2010/main" val="193560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The currently installed LPCS drift tube was analyzed by comparing the experimental data.</a:t>
            </a:r>
          </a:p>
          <a:p>
            <a:r>
              <a:rPr lang="en-US" dirty="0">
                <a:ea typeface="Cambria Math" panose="02040503050406030204" pitchFamily="18" charset="0"/>
              </a:rPr>
              <a:t>The simulation condition was given by Kei (</a:t>
            </a:r>
            <a:r>
              <a:rPr lang="en-US" dirty="0">
                <a:hlinkClick r:id="rId2"/>
              </a:rPr>
              <a:t>20251020_CSS_spot_fukushima.pptx</a:t>
            </a:r>
            <a:r>
              <a:rPr lang="en-US" dirty="0">
                <a:ea typeface="Cambria Math" panose="02040503050406030204" pitchFamily="18" charset="0"/>
              </a:rPr>
              <a:t>)</a:t>
            </a:r>
          </a:p>
          <a:p>
            <a:r>
              <a:rPr lang="en-US" dirty="0"/>
              <a:t>Details are in the appendix</a:t>
            </a:r>
          </a:p>
          <a:p>
            <a:pPr lvl="1"/>
            <a:r>
              <a:rPr lang="en-US" dirty="0"/>
              <a:t>Appendix1: Material </a:t>
            </a:r>
            <a:r>
              <a:rPr lang="en-US" dirty="0" err="1"/>
              <a:t>propreties</a:t>
            </a:r>
            <a:endParaRPr lang="en-US" dirty="0"/>
          </a:p>
          <a:p>
            <a:pPr lvl="1"/>
            <a:r>
              <a:rPr lang="en-US" dirty="0"/>
              <a:t>Appendix2: Boundary conditions</a:t>
            </a:r>
          </a:p>
          <a:p>
            <a:r>
              <a:rPr lang="en-US" dirty="0"/>
              <a:t>Other simulation condition details (mesh independent, </a:t>
            </a:r>
            <a:r>
              <a:rPr lang="en-US" dirty="0" err="1"/>
              <a:t>Gnielinski</a:t>
            </a:r>
            <a:r>
              <a:rPr lang="en-US" dirty="0"/>
              <a:t> correction, flow conditions) </a:t>
            </a:r>
            <a:br>
              <a:rPr lang="en-US" dirty="0"/>
            </a:br>
            <a:r>
              <a:rPr lang="en-US" dirty="0"/>
              <a:t>in the previous calculation (“</a:t>
            </a:r>
            <a:r>
              <a:rPr lang="en-US" b="0" dirty="0">
                <a:ea typeface="Cambria Math" panose="02040503050406030204" pitchFamily="18" charset="0"/>
              </a:rPr>
              <a:t>N:\leeg\Presentation</a:t>
            </a:r>
            <a:r>
              <a:rPr lang="en-US" dirty="0">
                <a:ea typeface="Cambria Math" panose="02040503050406030204" pitchFamily="18" charset="0"/>
              </a:rPr>
              <a:t>\ </a:t>
            </a:r>
            <a:r>
              <a:rPr lang="en-US" dirty="0" err="1">
                <a:ea typeface="Cambria Math" panose="02040503050406030204" pitchFamily="18" charset="0"/>
              </a:rPr>
              <a:t>LPCS_drift_tube_transient</a:t>
            </a:r>
            <a:r>
              <a:rPr lang="en-US" dirty="0">
                <a:ea typeface="Cambria Math" panose="02040503050406030204" pitchFamily="18" charset="0"/>
              </a:rPr>
              <a:t>”)</a:t>
            </a:r>
            <a:endParaRPr lang="en-US" b="0" dirty="0">
              <a:ea typeface="Cambria Math" panose="02040503050406030204" pitchFamily="18" charset="0"/>
            </a:endParaRP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63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The temperature-dependent variables for current analysis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Power input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14.5 W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Beam size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=3.95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=5.88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Beam location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5 mm, 10 mm, 15 mm from the end of the pipe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Brazing thickness 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&lt; 15 % difference from previous analysis (340W power deposition)</a:t>
                </a:r>
              </a:p>
              <a:p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5" t="-2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3C0A7-A41E-CCC6-9CC9-113A0208E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98" y="4054999"/>
            <a:ext cx="6605436" cy="2050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F31BD-64DC-DF66-7455-A1C518D74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877" y="1070611"/>
            <a:ext cx="3941791" cy="295634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107BD1-1157-49A9-BFA0-A4B97887F2FE}"/>
              </a:ext>
            </a:extLst>
          </p:cNvPr>
          <p:cNvCxnSpPr>
            <a:cxnSpLocks/>
          </p:cNvCxnSpPr>
          <p:nvPr/>
        </p:nvCxnSpPr>
        <p:spPr>
          <a:xfrm flipH="1" flipV="1">
            <a:off x="11452469" y="2655098"/>
            <a:ext cx="974395" cy="4516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E3604B-40CF-856C-165D-3B4F511C0369}"/>
              </a:ext>
            </a:extLst>
          </p:cNvPr>
          <p:cNvSpPr txBox="1"/>
          <p:nvPr/>
        </p:nvSpPr>
        <p:spPr>
          <a:xfrm>
            <a:off x="11029933" y="2310891"/>
            <a:ext cx="97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Beam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860D53-65D5-47E5-196B-D7A51FED4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681" y="4001151"/>
            <a:ext cx="3654895" cy="23969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F8BA87-C518-ECF3-40D9-4C8410BE34E1}"/>
              </a:ext>
            </a:extLst>
          </p:cNvPr>
          <p:cNvSpPr txBox="1"/>
          <p:nvPr/>
        </p:nvSpPr>
        <p:spPr>
          <a:xfrm>
            <a:off x="7985550" y="6401095"/>
            <a:ext cx="421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20251020_CSS_spot_fukushima.pptx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16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Cambria Math" panose="02040503050406030204" pitchFamily="18" charset="0"/>
              </a:rPr>
              <a:t>4</a:t>
            </a:r>
            <a:r>
              <a:rPr lang="en-US" b="0" dirty="0">
                <a:ea typeface="Cambria Math" panose="02040503050406030204" pitchFamily="18" charset="0"/>
              </a:rPr>
              <a:t> temperature measurement sensors</a:t>
            </a:r>
            <a:endParaRPr lang="en-US" dirty="0">
              <a:ea typeface="Cambria Math" panose="02040503050406030204" pitchFamily="18" charset="0"/>
            </a:endParaRP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Measured point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9A30967-B44B-0B48-8CF9-C15187C15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323" b="47024"/>
          <a:stretch/>
        </p:blipFill>
        <p:spPr bwMode="auto">
          <a:xfrm>
            <a:off x="555970" y="1736026"/>
            <a:ext cx="5757714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BE139D6-3430-FC7C-A9E5-7D3309E36D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93" t="49292" r="1871" b="-2268"/>
          <a:stretch/>
        </p:blipFill>
        <p:spPr bwMode="auto">
          <a:xfrm>
            <a:off x="6691116" y="1736026"/>
            <a:ext cx="5757714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598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Temperature difference measurements</a:t>
            </a:r>
            <a:endParaRPr lang="en-US" dirty="0">
              <a:ea typeface="Cambria Math" panose="02040503050406030204" pitchFamily="18" charset="0"/>
            </a:endParaRPr>
          </a:p>
          <a:p>
            <a:pPr lvl="1"/>
            <a:r>
              <a:rPr lang="en-US" b="0" dirty="0">
                <a:ea typeface="Cambria Math" panose="02040503050406030204" pitchFamily="18" charset="0"/>
              </a:rPr>
              <a:t>A1: 2.3 C, A2: 7 C</a:t>
            </a:r>
            <a:endParaRPr lang="en-US" dirty="0">
              <a:ea typeface="Cambria Math" panose="02040503050406030204" pitchFamily="18" charset="0"/>
            </a:endParaRP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C98ED-641E-4B16-5348-A0193E94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6" y="1811656"/>
            <a:ext cx="11364689" cy="462654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EEE433-F494-2E2C-2DC1-17386182A952}"/>
              </a:ext>
            </a:extLst>
          </p:cNvPr>
          <p:cNvCxnSpPr>
            <a:cxnSpLocks/>
          </p:cNvCxnSpPr>
          <p:nvPr/>
        </p:nvCxnSpPr>
        <p:spPr>
          <a:xfrm>
            <a:off x="405885" y="2302018"/>
            <a:ext cx="121956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CE50EC-075E-D97E-6584-C10D911F40E8}"/>
              </a:ext>
            </a:extLst>
          </p:cNvPr>
          <p:cNvCxnSpPr>
            <a:cxnSpLocks/>
          </p:cNvCxnSpPr>
          <p:nvPr/>
        </p:nvCxnSpPr>
        <p:spPr>
          <a:xfrm>
            <a:off x="405885" y="2617236"/>
            <a:ext cx="121956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71028BE-D216-670C-A9BE-4D198AA265BF}"/>
              </a:ext>
            </a:extLst>
          </p:cNvPr>
          <p:cNvSpPr txBox="1"/>
          <p:nvPr/>
        </p:nvSpPr>
        <p:spPr>
          <a:xfrm>
            <a:off x="0" y="2117352"/>
            <a:ext cx="63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9072C-08E6-AA7E-EA59-58E3EE9E6E96}"/>
              </a:ext>
            </a:extLst>
          </p:cNvPr>
          <p:cNvSpPr txBox="1"/>
          <p:nvPr/>
        </p:nvSpPr>
        <p:spPr>
          <a:xfrm>
            <a:off x="0" y="2408916"/>
            <a:ext cx="63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287631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89A843-84C9-2F28-8F19-2A252B71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511" y="2161660"/>
            <a:ext cx="6699105" cy="4243204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Simulation results</a:t>
            </a:r>
          </a:p>
          <a:p>
            <a:pPr lvl="1"/>
            <a:r>
              <a:rPr lang="en-US" dirty="0">
                <a:ea typeface="Cambria Math" panose="02040503050406030204" pitchFamily="18" charset="0"/>
              </a:rPr>
              <a:t>Power change at designated points (5mm, 10 mm, 15 mm from the end of pipe)</a:t>
            </a: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F29FBCE-A70B-11A2-44BE-B779BC8FDD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93" t="49292" r="3493" b="-2268"/>
          <a:stretch/>
        </p:blipFill>
        <p:spPr bwMode="auto">
          <a:xfrm>
            <a:off x="0" y="1923701"/>
            <a:ext cx="5665509" cy="466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E55A83-7AC4-7CF7-CD04-CD800151C989}"/>
              </a:ext>
            </a:extLst>
          </p:cNvPr>
          <p:cNvSpPr txBox="1"/>
          <p:nvPr/>
        </p:nvSpPr>
        <p:spPr>
          <a:xfrm>
            <a:off x="4187321" y="2199220"/>
            <a:ext cx="34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AE8716D-B6FA-246E-0658-05C6CB9F7E00}"/>
              </a:ext>
            </a:extLst>
          </p:cNvPr>
          <p:cNvCxnSpPr>
            <a:cxnSpLocks/>
          </p:cNvCxnSpPr>
          <p:nvPr/>
        </p:nvCxnSpPr>
        <p:spPr>
          <a:xfrm>
            <a:off x="4342864" y="2534000"/>
            <a:ext cx="0" cy="1464117"/>
          </a:xfrm>
          <a:prstGeom prst="line">
            <a:avLst/>
          </a:prstGeom>
          <a:ln>
            <a:solidFill>
              <a:srgbClr val="C00000"/>
            </a:solidFill>
            <a:prstDash val="sys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749863-9DDE-B892-129A-12A06BEA5A3B}"/>
              </a:ext>
            </a:extLst>
          </p:cNvPr>
          <p:cNvCxnSpPr>
            <a:cxnSpLocks/>
          </p:cNvCxnSpPr>
          <p:nvPr/>
        </p:nvCxnSpPr>
        <p:spPr>
          <a:xfrm flipH="1">
            <a:off x="3403479" y="2707038"/>
            <a:ext cx="93938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D9A454-781B-0F46-871D-B6DD934F5F42}"/>
              </a:ext>
            </a:extLst>
          </p:cNvPr>
          <p:cNvSpPr txBox="1"/>
          <p:nvPr/>
        </p:nvSpPr>
        <p:spPr>
          <a:xfrm>
            <a:off x="2995398" y="2349334"/>
            <a:ext cx="130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 ~ 15 mm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B75E6D-C2BB-06D9-AA87-3507E4AE5EC1}"/>
              </a:ext>
            </a:extLst>
          </p:cNvPr>
          <p:cNvSpPr txBox="1"/>
          <p:nvPr/>
        </p:nvSpPr>
        <p:spPr>
          <a:xfrm>
            <a:off x="11027657" y="3070491"/>
            <a:ext cx="1463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A2 (T = 7 C)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76741E-5535-00B9-30E2-C687185C1917}"/>
              </a:ext>
            </a:extLst>
          </p:cNvPr>
          <p:cNvSpPr txBox="1"/>
          <p:nvPr/>
        </p:nvSpPr>
        <p:spPr>
          <a:xfrm>
            <a:off x="11050621" y="4851540"/>
            <a:ext cx="1694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A1 (T = 2.3 C)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4F268C-D992-C387-392C-49CEF8F4C618}"/>
              </a:ext>
            </a:extLst>
          </p:cNvPr>
          <p:cNvSpPr txBox="1"/>
          <p:nvPr/>
        </p:nvSpPr>
        <p:spPr>
          <a:xfrm>
            <a:off x="6276351" y="2319940"/>
            <a:ext cx="30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Match around 0.6 W</a:t>
            </a:r>
          </a:p>
        </p:txBody>
      </p:sp>
    </p:spTree>
    <p:extLst>
      <p:ext uri="{BB962C8B-B14F-4D97-AF65-F5344CB8AC3E}">
        <p14:creationId xmlns:p14="http://schemas.microsoft.com/office/powerpoint/2010/main" val="194658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Temperature distribution</a:t>
            </a:r>
          </a:p>
          <a:p>
            <a:pPr lvl="1"/>
            <a:r>
              <a:rPr lang="en-US" dirty="0">
                <a:ea typeface="Cambria Math" panose="02040503050406030204" pitchFamily="18" charset="0"/>
              </a:rPr>
              <a:t>0.6 W deposited</a:t>
            </a:r>
          </a:p>
          <a:p>
            <a:pPr lvl="1"/>
            <a:r>
              <a:rPr lang="en-US" dirty="0">
                <a:ea typeface="Cambria Math" panose="02040503050406030204" pitchFamily="18" charset="0"/>
              </a:rPr>
              <a:t>10 mm distance from the end of pipe</a:t>
            </a: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EAE241-F879-D36D-48ED-B64B96844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560" y="2312245"/>
            <a:ext cx="5570811" cy="41781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50783B6-9DF8-BBCE-CD02-06EB1493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86" y="2269499"/>
            <a:ext cx="5570812" cy="417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0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3938A91-6849-E6E4-F18F-A5DAC561C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3" y="2609271"/>
            <a:ext cx="6912494" cy="3604081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Power limitation</a:t>
            </a:r>
          </a:p>
          <a:p>
            <a:pPr lvl="1"/>
            <a:r>
              <a:rPr lang="en-US" dirty="0">
                <a:ea typeface="Cambria Math" panose="02040503050406030204" pitchFamily="18" charset="0"/>
              </a:rPr>
              <a:t>The maximum stress is over the yield strength at 17.2 W</a:t>
            </a:r>
          </a:p>
          <a:p>
            <a:pPr lvl="1"/>
            <a:r>
              <a:rPr lang="en-US" dirty="0">
                <a:ea typeface="Cambria Math" panose="02040503050406030204" pitchFamily="18" charset="0"/>
              </a:rPr>
              <a:t>Water channel temperature &lt; 100 C at this point</a:t>
            </a:r>
          </a:p>
          <a:p>
            <a:endParaRPr lang="en-US" b="0" dirty="0">
              <a:ea typeface="Cambria Math" panose="020405030504060302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AA25E0-9D9F-45CD-5D04-971FF7D43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277" y="2132118"/>
            <a:ext cx="5696995" cy="427274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191F61-A181-E4A0-BABA-D5C988155C9A}"/>
              </a:ext>
            </a:extLst>
          </p:cNvPr>
          <p:cNvCxnSpPr/>
          <p:nvPr/>
        </p:nvCxnSpPr>
        <p:spPr>
          <a:xfrm flipH="1" flipV="1">
            <a:off x="5920741" y="3892837"/>
            <a:ext cx="187976" cy="4147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C331AA-7A64-EEE6-885F-5D83535C6DD6}"/>
              </a:ext>
            </a:extLst>
          </p:cNvPr>
          <p:cNvSpPr txBox="1"/>
          <p:nvPr/>
        </p:nvSpPr>
        <p:spPr>
          <a:xfrm>
            <a:off x="5750498" y="4249627"/>
            <a:ext cx="1247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17.2 W</a:t>
            </a:r>
          </a:p>
        </p:txBody>
      </p:sp>
    </p:spTree>
    <p:extLst>
      <p:ext uri="{BB962C8B-B14F-4D97-AF65-F5344CB8AC3E}">
        <p14:creationId xmlns:p14="http://schemas.microsoft.com/office/powerpoint/2010/main" val="265091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a typeface="Cambria Math" panose="02040503050406030204" pitchFamily="18" charset="0"/>
              </a:rPr>
              <a:t>The deposited power for the Oct 17, 2025 case was calculated to be 0.6 W.</a:t>
            </a:r>
          </a:p>
          <a:p>
            <a:r>
              <a:rPr lang="en-US" b="0" dirty="0">
                <a:ea typeface="Cambria Math" panose="02040503050406030204" pitchFamily="18" charset="0"/>
              </a:rPr>
              <a:t>The power limitation based on </a:t>
            </a:r>
            <a:r>
              <a:rPr lang="en-US" dirty="0">
                <a:ea typeface="Cambria Math" panose="02040503050406030204" pitchFamily="18" charset="0"/>
              </a:rPr>
              <a:t>yield strength wa</a:t>
            </a:r>
            <a:r>
              <a:rPr lang="en-US" b="0" dirty="0">
                <a:ea typeface="Cambria Math" panose="02040503050406030204" pitchFamily="18" charset="0"/>
              </a:rPr>
              <a:t>s 17.2 W.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31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8373" y="1138240"/>
            <a:ext cx="11006150" cy="4548185"/>
          </a:xfrm>
        </p:spPr>
        <p:txBody>
          <a:bodyPr/>
          <a:lstStyle/>
          <a:p>
            <a:r>
              <a:rPr lang="en-US" dirty="0"/>
              <a:t>Stainless Steel 304 (from MPDB)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Welding material (SILVALOY 721, ~72% silver, ~28% copper)</a:t>
            </a:r>
          </a:p>
          <a:p>
            <a:pPr lvl="1"/>
            <a:r>
              <a:rPr lang="en-US" dirty="0"/>
              <a:t>Thermal conductivity: 200 W/</a:t>
            </a:r>
            <a:r>
              <a:rPr lang="en-US" dirty="0" err="1"/>
              <a:t>mK</a:t>
            </a:r>
            <a:endParaRPr lang="en-US" dirty="0"/>
          </a:p>
          <a:p>
            <a:pPr lvl="1"/>
            <a:r>
              <a:rPr lang="en-US" dirty="0"/>
              <a:t>Others as silver properties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1: Material properties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E8859D-9C74-7818-9F56-984574FA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692" y="1690699"/>
            <a:ext cx="3398398" cy="2597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903791-E219-C4E0-7E7F-70E7D7466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090" y="1628730"/>
            <a:ext cx="3398398" cy="2597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816E80-E8C5-DA6D-5090-66C3D6C47BDC}"/>
              </a:ext>
            </a:extLst>
          </p:cNvPr>
          <p:cNvSpPr txBox="1"/>
          <p:nvPr/>
        </p:nvSpPr>
        <p:spPr>
          <a:xfrm>
            <a:off x="7091586" y="4313804"/>
            <a:ext cx="220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Young’s Modulus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BA5E6-2A29-8C5D-757F-7C0D15B4D517}"/>
              </a:ext>
            </a:extLst>
          </p:cNvPr>
          <p:cNvSpPr txBox="1"/>
          <p:nvPr/>
        </p:nvSpPr>
        <p:spPr>
          <a:xfrm>
            <a:off x="10410596" y="4265728"/>
            <a:ext cx="220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Poisson’s ratio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1FF356-59A2-4B74-AFAB-27698E08B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2" y="1752623"/>
            <a:ext cx="3112470" cy="23789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E0C771-2BC0-E3DF-DF2B-7E069B75B99D}"/>
              </a:ext>
            </a:extLst>
          </p:cNvPr>
          <p:cNvSpPr txBox="1"/>
          <p:nvPr/>
        </p:nvSpPr>
        <p:spPr>
          <a:xfrm>
            <a:off x="442309" y="4168942"/>
            <a:ext cx="243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Thermal conductivity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8D90A6-A984-85B9-B747-ACB31E0EB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884" y="1799973"/>
            <a:ext cx="3112469" cy="23789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7C8DC8-C726-4687-C6DB-CCAB94B4F3FA}"/>
              </a:ext>
            </a:extLst>
          </p:cNvPr>
          <p:cNvSpPr txBox="1"/>
          <p:nvPr/>
        </p:nvSpPr>
        <p:spPr>
          <a:xfrm>
            <a:off x="3737700" y="4265728"/>
            <a:ext cx="243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Thermal expansion</a:t>
            </a:r>
          </a:p>
        </p:txBody>
      </p:sp>
    </p:spTree>
    <p:extLst>
      <p:ext uri="{BB962C8B-B14F-4D97-AF65-F5344CB8AC3E}">
        <p14:creationId xmlns:p14="http://schemas.microsoft.com/office/powerpoint/2010/main" val="256231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08373" y="1138240"/>
                <a:ext cx="11006150" cy="4548185"/>
              </a:xfrm>
            </p:spPr>
            <p:txBody>
              <a:bodyPr/>
              <a:lstStyle/>
              <a:p>
                <a:r>
                  <a:rPr lang="en-US" dirty="0"/>
                  <a:t>Turbulent flow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Inlet: 1 gal/min</a:t>
                </a:r>
              </a:p>
              <a:p>
                <a:pPr lvl="1"/>
                <a:r>
                  <a:rPr lang="en-US" dirty="0"/>
                  <a:t>Outlet: 0 Pa</a:t>
                </a:r>
              </a:p>
              <a:p>
                <a:r>
                  <a:rPr lang="en-US" dirty="0"/>
                  <a:t>Heat transfer</a:t>
                </a:r>
              </a:p>
              <a:p>
                <a:pPr lvl="1"/>
                <a:r>
                  <a:rPr lang="en-US" dirty="0"/>
                  <a:t>Inflow temperature: 32 C</a:t>
                </a:r>
              </a:p>
              <a:p>
                <a:pPr lvl="1"/>
                <a:r>
                  <a:rPr lang="en-US" dirty="0"/>
                  <a:t>Deposited beam power: Normal to the center of surface</a:t>
                </a:r>
              </a:p>
              <a:p>
                <a:r>
                  <a:rPr lang="en-US" dirty="0"/>
                  <a:t>The </a:t>
                </a:r>
                <a:r>
                  <a:rPr lang="en-US" dirty="0" err="1"/>
                  <a:t>Gnielinski</a:t>
                </a:r>
                <a:r>
                  <a:rPr lang="en-US" dirty="0"/>
                  <a:t> correction is applied for temperature analysis</a:t>
                </a:r>
              </a:p>
              <a:p>
                <a:pPr lvl="1"/>
                <a:r>
                  <a:rPr lang="en-US" dirty="0"/>
                  <a:t>Current model dimensionless number</a:t>
                </a:r>
              </a:p>
              <a:p>
                <a:pPr lvl="2"/>
                <a:r>
                  <a:rPr lang="en-US" dirty="0"/>
                  <a:t>Re ~ 10560</a:t>
                </a:r>
              </a:p>
              <a:p>
                <a:pPr lvl="2"/>
                <a:r>
                  <a:rPr lang="en-US" dirty="0" err="1"/>
                  <a:t>Pr</a:t>
                </a:r>
                <a:r>
                  <a:rPr lang="en-US" dirty="0"/>
                  <a:t> ~ 7</a:t>
                </a:r>
              </a:p>
              <a:p>
                <a:pPr lvl="1"/>
                <a:r>
                  <a:rPr lang="en-US" dirty="0"/>
                  <a:t>Details in </a:t>
                </a:r>
                <a:r>
                  <a:rPr lang="en-US" b="0" dirty="0">
                    <a:ea typeface="Cambria Math" panose="02040503050406030204" pitchFamily="18" charset="0"/>
                  </a:rPr>
                  <a:t>“N:\</a:t>
                </a:r>
                <a:r>
                  <a:rPr lang="en-US" b="0" dirty="0" err="1">
                    <a:ea typeface="Cambria Math" panose="02040503050406030204" pitchFamily="18" charset="0"/>
                  </a:rPr>
                  <a:t>leeg</a:t>
                </a:r>
                <a:r>
                  <a:rPr lang="en-US" b="0" dirty="0">
                    <a:ea typeface="Cambria Math" panose="02040503050406030204" pitchFamily="18" charset="0"/>
                  </a:rPr>
                  <a:t>\Presentation</a:t>
                </a:r>
                <a:r>
                  <a:rPr lang="en-US" dirty="0">
                    <a:ea typeface="Cambria Math" panose="02040503050406030204" pitchFamily="18" charset="0"/>
                  </a:rPr>
                  <a:t>\ </a:t>
                </a:r>
                <a:r>
                  <a:rPr lang="en-US" dirty="0" err="1">
                    <a:ea typeface="Cambria Math" panose="02040503050406030204" pitchFamily="18" charset="0"/>
                  </a:rPr>
                  <a:t>LPCS_drift_tube_transient</a:t>
                </a:r>
                <a:r>
                  <a:rPr lang="en-US" dirty="0">
                    <a:ea typeface="Cambria Math" panose="02040503050406030204" pitchFamily="18" charset="0"/>
                  </a:rPr>
                  <a:t>”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73" y="1138240"/>
                <a:ext cx="11006150" cy="4548185"/>
              </a:xfrm>
              <a:blipFill>
                <a:blip r:embed="rId2"/>
                <a:stretch>
                  <a:fillRect l="-1551" t="-2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2: Boundary condition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 Lee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, Slide </a:t>
            </a:r>
            <a:fld id="{35AD4620-7552-4207-8973-898801ED212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0F87B1-BEE7-0D35-E46A-9891764E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27" y="3827380"/>
            <a:ext cx="4562851" cy="208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60455"/>
      </p:ext>
    </p:extLst>
  </p:cSld>
  <p:clrMapOvr>
    <a:masterClrMapping/>
  </p:clrMapOvr>
</p:sld>
</file>

<file path=ppt/theme/theme1.xml><?xml version="1.0" encoding="utf-8"?>
<a:theme xmlns:a="http://schemas.openxmlformats.org/drawingml/2006/main" name="2_FRIB3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10_CKG FRIB no-line 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KG FRIB no-line 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KG FRIB no-line 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8">
        <a:dk1>
          <a:srgbClr val="000000"/>
        </a:dk1>
        <a:lt1>
          <a:srgbClr val="FFFFFF"/>
        </a:lt1>
        <a:dk2>
          <a:srgbClr val="1F1DE8"/>
        </a:dk2>
        <a:lt2>
          <a:srgbClr val="007469"/>
        </a:lt2>
        <a:accent1>
          <a:srgbClr val="FC0128"/>
        </a:accent1>
        <a:accent2>
          <a:srgbClr val="CF16CE"/>
        </a:accent2>
        <a:accent3>
          <a:srgbClr val="FFFFFF"/>
        </a:accent3>
        <a:accent4>
          <a:srgbClr val="000000"/>
        </a:accent4>
        <a:accent5>
          <a:srgbClr val="FDAAAC"/>
        </a:accent5>
        <a:accent6>
          <a:srgbClr val="BB13BA"/>
        </a:accent6>
        <a:hlink>
          <a:srgbClr val="F39FD1"/>
        </a:hlink>
        <a:folHlink>
          <a:srgbClr val="7C0F5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RIB-PowerPoint-Template-16x9-v5" id="{386E0BD5-C86C-4D62-9771-31771216E89C}" vid="{4ACF4385-ADC6-4C4F-9B7B-D66EF0FAE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51A918-08D5-449F-8A17-B243F558068D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FAECBD9524743810300543FD35949" ma:contentTypeVersion="12" ma:contentTypeDescription="Create a new document." ma:contentTypeScope="" ma:versionID="4e1ce8c434ccf00c254609ea64994656">
  <xsd:schema xmlns:xsd="http://www.w3.org/2001/XMLSchema" xmlns:xs="http://www.w3.org/2001/XMLSchema" xmlns:p="http://schemas.microsoft.com/office/2006/metadata/properties" xmlns:ns2="31ac3772-10db-466f-87b2-5ca6a813de61" xmlns:ns3="http://schemas.microsoft.com/sharepoint/v4" xmlns:ns4="eabd35fa-70f7-4707-bb94-f0fb9d38b1ac" targetNamespace="http://schemas.microsoft.com/office/2006/metadata/properties" ma:root="true" ma:fieldsID="898c19f0ea3f647f1e89aefed0092a7b" ns2:_="" ns3:_="" ns4:_="">
    <xsd:import namespace="31ac3772-10db-466f-87b2-5ca6a813de61"/>
    <xsd:import namespace="http://schemas.microsoft.com/sharepoint/v4"/>
    <xsd:import namespace="eabd35fa-70f7-4707-bb94-f0fb9d38b1ac"/>
    <xsd:element name="properties">
      <xsd:complexType>
        <xsd:sequence>
          <xsd:element name="documentManagement">
            <xsd:complexType>
              <xsd:all>
                <xsd:element ref="ns2:Archive_x0020_Date" minOccurs="0"/>
                <xsd:element ref="ns3:IconOverlay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c3772-10db-466f-87b2-5ca6a813de61" elementFormDefault="qualified">
    <xsd:import namespace="http://schemas.microsoft.com/office/2006/documentManagement/types"/>
    <xsd:import namespace="http://schemas.microsoft.com/office/infopath/2007/PartnerControls"/>
    <xsd:element name="Archive_x0020_Date" ma:index="8" nillable="true" ma:displayName="Archive Date" ma:format="DateOnly" ma:internalName="Archive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35fa-70f7-4707-bb94-f0fb9d38b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rchive_x0020_Date xmlns="31ac3772-10db-466f-87b2-5ca6a813de61" xsi:nil="true"/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7D8170BE-7DDA-48D5-AC64-64C484AAB4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c3772-10db-466f-87b2-5ca6a813de61"/>
    <ds:schemaRef ds:uri="http://schemas.microsoft.com/sharepoint/v4"/>
    <ds:schemaRef ds:uri="eabd35fa-70f7-4707-bb94-f0fb9d38b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04514C-E1EA-4DB1-85FB-832E60D4A4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18382-7B1A-46A6-9E5B-B59119FCF067}">
  <ds:schemaRefs>
    <ds:schemaRef ds:uri="http://schemas.microsoft.com/sharepoint/v4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eabd35fa-70f7-4707-bb94-f0fb9d38b1ac"/>
    <ds:schemaRef ds:uri="31ac3772-10db-466f-87b2-5ca6a813de6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129200</TotalTime>
  <Words>459</Words>
  <Application>Microsoft Office PowerPoint</Application>
  <PresentationFormat>Custom</PresentationFormat>
  <Paragraphs>97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Lucida Grande</vt:lpstr>
      <vt:lpstr>Arial</vt:lpstr>
      <vt:lpstr>Calibri</vt:lpstr>
      <vt:lpstr>Cambria Math</vt:lpstr>
      <vt:lpstr>Helvetica</vt:lpstr>
      <vt:lpstr>Wingdings</vt:lpstr>
      <vt:lpstr>2_FRIB3</vt:lpstr>
      <vt:lpstr>LPCS Drift Tube Temperature Comparison</vt:lpstr>
      <vt:lpstr>Introduction</vt:lpstr>
      <vt:lpstr>Variables</vt:lpstr>
      <vt:lpstr>Measured point</vt:lpstr>
      <vt:lpstr>Experimental data</vt:lpstr>
      <vt:lpstr>Simulation results</vt:lpstr>
      <vt:lpstr>Simulation results</vt:lpstr>
      <vt:lpstr>Simulation results</vt:lpstr>
      <vt:lpstr>Conclusion</vt:lpstr>
      <vt:lpstr>Appendix 1: Material properties</vt:lpstr>
      <vt:lpstr>Appendix 2: Boundary condition</vt:lpstr>
    </vt:vector>
  </TitlesOfParts>
  <Company>FRIB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FRIB User Facility Overview</dc:title>
  <dc:creator>Lee, Geunhyeong</dc:creator>
  <cp:lastModifiedBy>Geunhyeong Lee</cp:lastModifiedBy>
  <cp:revision>1995</cp:revision>
  <cp:lastPrinted>2025-08-25T13:17:44Z</cp:lastPrinted>
  <dcterms:created xsi:type="dcterms:W3CDTF">2016-02-09T17:27:26Z</dcterms:created>
  <dcterms:modified xsi:type="dcterms:W3CDTF">2025-10-30T20:37:29Z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0x010100CF5FAECBD9524743810300543FD35949</vt:lpwstr>
  </property>
  <property fmtid="{D5CDD505-2E9C-101B-9397-08002B2CF9AE}" pid="3" name="Order">
    <vt:r8>7708800</vt:r8>
  </property>
</Properties>
</file>