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4"/>
  </p:sldMasterIdLst>
  <p:notesMasterIdLst>
    <p:notesMasterId r:id="rId14"/>
  </p:notesMasterIdLst>
  <p:handoutMasterIdLst>
    <p:handoutMasterId r:id="rId15"/>
  </p:handoutMasterIdLst>
  <p:sldIdLst>
    <p:sldId id="745" r:id="rId5"/>
    <p:sldId id="871" r:id="rId6"/>
    <p:sldId id="890" r:id="rId7"/>
    <p:sldId id="891" r:id="rId8"/>
    <p:sldId id="885" r:id="rId9"/>
    <p:sldId id="886" r:id="rId10"/>
    <p:sldId id="887" r:id="rId11"/>
    <p:sldId id="888" r:id="rId12"/>
    <p:sldId id="889" r:id="rId13"/>
  </p:sldIdLst>
  <p:sldSz cx="13004800" cy="73152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71F"/>
    <a:srgbClr val="DE8066"/>
    <a:srgbClr val="F07F09"/>
    <a:srgbClr val="8AC4E2"/>
    <a:srgbClr val="A8D3A8"/>
    <a:srgbClr val="ECB53C"/>
    <a:srgbClr val="E6E6E6"/>
    <a:srgbClr val="EBB33D"/>
    <a:srgbClr val="EDB839"/>
    <a:srgbClr val="D96C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05" autoAdjust="0"/>
    <p:restoredTop sz="93800" autoAdjust="0"/>
  </p:normalViewPr>
  <p:slideViewPr>
    <p:cSldViewPr snapToGrid="0">
      <p:cViewPr varScale="1">
        <p:scale>
          <a:sx n="102" d="100"/>
          <a:sy n="102" d="100"/>
        </p:scale>
        <p:origin x="114" y="90"/>
      </p:cViewPr>
      <p:guideLst>
        <p:guide orient="horz" pos="2304"/>
        <p:guide pos="409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213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8326ABB-3EEB-47B7-AD7F-CF23ED7FE83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DADF62D-6416-4B58-9969-1681054BE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02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r">
              <a:defRPr sz="1200"/>
            </a:lvl1pPr>
          </a:lstStyle>
          <a:p>
            <a:fld id="{666E12AD-0F3F-457A-995A-447FB9AC83D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0" tIns="46586" rIns="93170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3170" tIns="46586" rIns="93170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r">
              <a:defRPr sz="1200"/>
            </a:lvl1pPr>
          </a:lstStyle>
          <a:p>
            <a:fld id="{1FDF26B1-DE9A-4EC9-A610-93C778CE0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050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546350" y="876300"/>
            <a:ext cx="4203700" cy="23653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Rectangle 2051"/>
          <p:cNvSpPr>
            <a:spLocks noGrp="1"/>
          </p:cNvSpPr>
          <p:nvPr>
            <p:ph type="body" idx="1"/>
          </p:nvPr>
        </p:nvSpPr>
        <p:spPr bwMode="auto">
          <a:xfrm>
            <a:off x="927956" y="3369846"/>
            <a:ext cx="7423623" cy="3191908"/>
          </a:xfrm>
          <a:prstGeom prst="rect">
            <a:avLst/>
          </a:prstGeom>
          <a:noFill/>
        </p:spPr>
        <p:txBody>
          <a:bodyPr/>
          <a:lstStyle/>
          <a:p>
            <a:endParaRPr lang="en-US" dirty="0"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77545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07417" y="1320800"/>
            <a:ext cx="10652411" cy="47719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2210" tIns="46105" rIns="92210" bIns="46105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2773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167467" y="4343401"/>
            <a:ext cx="8669867" cy="1219200"/>
          </a:xfrm>
        </p:spPr>
        <p:txBody>
          <a:bodyPr/>
          <a:lstStyle>
            <a:lvl1pPr marL="0" indent="0" algn="ctr">
              <a:buNone/>
              <a:defRPr/>
            </a:lvl1pPr>
            <a:lvl2pPr marL="461110" indent="0" algn="ctr">
              <a:buNone/>
              <a:defRPr/>
            </a:lvl2pPr>
            <a:lvl3pPr marL="922217" indent="0" algn="ctr">
              <a:buNone/>
              <a:defRPr/>
            </a:lvl3pPr>
            <a:lvl4pPr marL="1383325" indent="0" algn="ctr">
              <a:buNone/>
              <a:defRPr/>
            </a:lvl4pPr>
            <a:lvl5pPr marL="1844435" indent="0" algn="ctr">
              <a:buNone/>
              <a:defRPr/>
            </a:lvl5pPr>
            <a:lvl6pPr marL="2305543" indent="0" algn="ctr">
              <a:buNone/>
              <a:defRPr/>
            </a:lvl6pPr>
            <a:lvl7pPr marL="2766652" indent="0" algn="ctr">
              <a:buNone/>
              <a:defRPr/>
            </a:lvl7pPr>
            <a:lvl8pPr marL="3227758" indent="0" algn="ctr">
              <a:buNone/>
              <a:defRPr/>
            </a:lvl8pPr>
            <a:lvl9pPr marL="368886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6" y="3357103"/>
            <a:ext cx="12801599" cy="5105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56061" tIns="22425" rIns="56061" bIns="22425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0" y="6812965"/>
            <a:ext cx="13004800" cy="454149"/>
          </a:xfrm>
          <a:prstGeom prst="rect">
            <a:avLst/>
          </a:prstGeom>
          <a:noFill/>
        </p:spPr>
        <p:txBody>
          <a:bodyPr wrap="square" lIns="92252" tIns="46126" rIns="92252" bIns="46126" rtlCol="0">
            <a:spAutoFit/>
          </a:bodyPr>
          <a:lstStyle/>
          <a:p>
            <a:pPr algn="ctr"/>
            <a:r>
              <a:rPr lang="en-US" sz="1173" kern="1200" dirty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This material is based upon work supported by the U.S. Department of Energy, Office of Science, Office of Nuclear Physics and used resources of</a:t>
            </a:r>
          </a:p>
          <a:p>
            <a:pPr algn="ctr"/>
            <a:r>
              <a:rPr lang="en-US" sz="1173" kern="1200" dirty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the</a:t>
            </a:r>
            <a:r>
              <a:rPr lang="en-US" sz="1173" kern="1200" baseline="0" dirty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 </a:t>
            </a:r>
            <a:r>
              <a:rPr lang="en-US" sz="1173" kern="1200" dirty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Facility for Rare Isotope Beams (FRIB) Operations, which is a DOE Office of Science User Facility under Award Number DE-SC0023633.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282897" y="442928"/>
            <a:ext cx="3901440" cy="22399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960" y="583032"/>
            <a:ext cx="1706880" cy="21801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120" y="6018699"/>
            <a:ext cx="3413760" cy="74807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55" y="6019159"/>
            <a:ext cx="2828544" cy="66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2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5266624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6502401" y="6780213"/>
            <a:ext cx="5418674" cy="388937"/>
          </a:xfrm>
        </p:spPr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80"/>
            </a:lvl1pPr>
          </a:lstStyle>
          <a:p>
            <a:pPr>
              <a:defRPr/>
            </a:pPr>
            <a:r>
              <a:rPr lang="en-US" dirty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frib.msu.edu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33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17151" y="6467682"/>
            <a:ext cx="13021952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4551360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80"/>
            </a:lvl1pPr>
          </a:lstStyle>
          <a:p>
            <a:pPr>
              <a:defRPr/>
            </a:pPr>
            <a:r>
              <a:rPr lang="en-US" dirty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auto">
          <a:xfrm>
            <a:off x="0" y="5770880"/>
            <a:ext cx="13004800" cy="73152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7492" tIns="48747" rIns="97492" bIns="48747" anchor="ctr"/>
          <a:lstStyle/>
          <a:p>
            <a:endParaRPr lang="en-US" sz="1920" dirty="0"/>
          </a:p>
        </p:txBody>
      </p:sp>
      <p:sp>
        <p:nvSpPr>
          <p:cNvPr id="12" name="Rectangle 9"/>
          <p:cNvSpPr>
            <a:spLocks noChangeArrowheads="1"/>
          </p:cNvSpPr>
          <p:nvPr userDrawn="1"/>
        </p:nvSpPr>
        <p:spPr bwMode="auto">
          <a:xfrm>
            <a:off x="0" y="6407568"/>
            <a:ext cx="13004800" cy="81280"/>
          </a:xfrm>
          <a:prstGeom prst="rect">
            <a:avLst/>
          </a:prstGeom>
          <a:solidFill>
            <a:srgbClr val="006633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492" tIns="48747" rIns="97492" bIns="48747" anchor="ctr"/>
          <a:lstStyle/>
          <a:p>
            <a:endParaRPr lang="en-US" sz="1920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5770880"/>
            <a:ext cx="12895462" cy="623147"/>
          </a:xfrm>
        </p:spPr>
        <p:txBody>
          <a:bodyPr anchor="ctr"/>
          <a:lstStyle>
            <a:lvl1pPr marL="146257" indent="0">
              <a:spcBef>
                <a:spcPts val="0"/>
              </a:spcBef>
              <a:buNone/>
              <a:defRPr b="1" baseline="0"/>
            </a:lvl1pPr>
          </a:lstStyle>
          <a:p>
            <a:pPr lvl="0"/>
            <a:r>
              <a:rPr lang="en-US" dirty="0"/>
              <a:t>Add takeaway message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78500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6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0" y="304808"/>
            <a:ext cx="12788050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4" y="1138240"/>
            <a:ext cx="6290816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6605618" y="1143008"/>
            <a:ext cx="6290812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4F88C639-55E7-4D97-AC8D-4B42A67367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546221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-17151" y="6467682"/>
            <a:ext cx="13021952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6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6" y="1138246"/>
            <a:ext cx="12788059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108376" y="3820168"/>
            <a:ext cx="12788059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BCDB990A-6268-4898-A641-7F04AAB15E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267404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8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0" y="304808"/>
            <a:ext cx="12788050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5" y="1138246"/>
            <a:ext cx="6285653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1"/>
          </p:nvPr>
        </p:nvSpPr>
        <p:spPr>
          <a:xfrm>
            <a:off x="6578538" y="1138246"/>
            <a:ext cx="6317902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2"/>
          </p:nvPr>
        </p:nvSpPr>
        <p:spPr>
          <a:xfrm>
            <a:off x="108388" y="3820168"/>
            <a:ext cx="6285652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6578538" y="3820168"/>
            <a:ext cx="6317902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74887700-F8AD-4E75-9DA6-99EB4D2760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44931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4" name="Picture 5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CF988859-7953-4624-98C4-717249B46A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13195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clea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17151" y="6467682"/>
            <a:ext cx="13004800" cy="8778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</p:spTree>
    <p:extLst>
      <p:ext uri="{BB962C8B-B14F-4D97-AF65-F5344CB8AC3E}">
        <p14:creationId xmlns:p14="http://schemas.microsoft.com/office/powerpoint/2010/main" val="56530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35AD4620-7552-4207-8973-898801ED21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745056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965237"/>
            <a:ext cx="9753600" cy="177872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42174"/>
            <a:ext cx="97536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BB48-2997-4352-B8C4-DBD3AEB7C3F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6C6-36C9-46CA-99DF-7FCD28A98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61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518" y="85256"/>
            <a:ext cx="12789774" cy="5105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6076" tIns="22431" rIns="56076" bIns="22431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18" y="1138240"/>
            <a:ext cx="12789774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888974" y="6780213"/>
            <a:ext cx="6032101" cy="388937"/>
          </a:xfrm>
          <a:prstGeom prst="rect">
            <a:avLst/>
          </a:prstGeom>
        </p:spPr>
        <p:txBody>
          <a:bodyPr lIns="0" tIns="45712" rIns="0" bIns="45712" anchor="b"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921067" y="6780213"/>
            <a:ext cx="1083733" cy="388937"/>
          </a:xfrm>
          <a:prstGeom prst="rect">
            <a:avLst/>
          </a:prstGeom>
        </p:spPr>
        <p:txBody>
          <a:bodyPr vert="horz" wrap="square" lIns="0" tIns="45712" rIns="0" bIns="45712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0000"/>
              </a:lnSpc>
              <a:defRPr sz="1280">
                <a:solidFill>
                  <a:srgbClr val="064308"/>
                </a:solidFill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, Slide </a:t>
            </a:r>
            <a:fld id="{D30A2C6D-39BC-4576-856C-8743CF76CCF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7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</p:sldLayoutIdLst>
  <p:hf hdr="0" dt="0"/>
  <p:txStyles>
    <p:titleStyle>
      <a:lvl1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1pPr>
      <a:lvl2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2pPr>
      <a:lvl3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3pPr>
      <a:lvl4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4pPr>
      <a:lvl5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5pPr>
      <a:lvl6pPr marL="487567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6pPr>
      <a:lvl7pPr marL="975137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7pPr>
      <a:lvl8pPr marL="1462703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8pPr>
      <a:lvl9pPr marL="1950272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9pPr>
    </p:titleStyle>
    <p:bodyStyle>
      <a:lvl1pPr marL="192214" indent="-192214" algn="l" defTabSz="856955" rtl="0" eaLnBrk="1" fontAlgn="base" hangingPunct="1">
        <a:lnSpc>
          <a:spcPct val="90000"/>
        </a:lnSpc>
        <a:spcBef>
          <a:spcPts val="1286"/>
        </a:spcBef>
        <a:spcAft>
          <a:spcPct val="0"/>
        </a:spcAft>
        <a:buSzPct val="100000"/>
        <a:buFont typeface="Wingdings" pitchFamily="2" charset="2"/>
        <a:buChar char="§"/>
        <a:defRPr sz="2347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1pPr>
      <a:lvl2pPr marL="387632" indent="-161781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SzPct val="100000"/>
        <a:buFont typeface="Arial" pitchFamily="34" charset="0"/>
        <a:buChar char="•"/>
        <a:defRPr sz="2133">
          <a:solidFill>
            <a:schemeClr val="tx1"/>
          </a:solidFill>
          <a:latin typeface="Arial" charset="0"/>
          <a:ea typeface="ＭＳ Ｐゴシック" charset="-128"/>
          <a:cs typeface="ＭＳ Ｐゴシック"/>
        </a:defRPr>
      </a:lvl2pPr>
      <a:lvl3pPr marL="631103" indent="-171390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SzPct val="100000"/>
        <a:buFont typeface="Lucida Grande" charset="0"/>
        <a:buChar char="»"/>
        <a:defRPr>
          <a:solidFill>
            <a:schemeClr val="tx1"/>
          </a:solidFill>
          <a:latin typeface="Arial" charset="0"/>
          <a:ea typeface="ヒラギノ角ゴ Pro W3" pitchFamily="-111" charset="-128"/>
          <a:cs typeface="ヒラギノ角ゴ Pro W3" pitchFamily="-111" charset="-128"/>
        </a:defRPr>
      </a:lvl3pPr>
      <a:lvl4pPr marL="776867" indent="-142559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Clr>
          <a:srgbClr val="999999"/>
        </a:buClr>
        <a:buSzPct val="100000"/>
        <a:buFont typeface="Arial" pitchFamily="34" charset="0"/>
        <a:buChar char="•"/>
        <a:defRPr sz="1707">
          <a:solidFill>
            <a:schemeClr val="tx1"/>
          </a:solidFill>
          <a:latin typeface="+mn-lt"/>
          <a:ea typeface="ヒラギノ角ゴ Pro W3" pitchFamily="-111" charset="-128"/>
          <a:cs typeface="ヒラギノ角ゴ Pro W3"/>
        </a:defRPr>
      </a:lvl4pPr>
      <a:lvl5pPr marL="1069993" indent="-192214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Clr>
          <a:srgbClr val="999999"/>
        </a:buClr>
        <a:buSzPct val="100000"/>
        <a:buFont typeface="Lucida Grande" charset="0"/>
        <a:buChar char="»"/>
        <a:defRPr sz="1493">
          <a:solidFill>
            <a:schemeClr val="tx1"/>
          </a:solidFill>
          <a:latin typeface="+mn-lt"/>
          <a:ea typeface="ヒラギノ角ゴ Pro W3" pitchFamily="-111" charset="-128"/>
          <a:cs typeface="ヒラギノ角ゴ Pro W3"/>
        </a:defRPr>
      </a:lvl5pPr>
      <a:lvl6pPr marL="237181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6pPr>
      <a:lvl7pPr marL="285938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7pPr>
      <a:lvl8pPr marL="334695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8pPr>
      <a:lvl9pPr marL="3834522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9pPr>
    </p:bodyStyle>
    <p:otherStyle>
      <a:defPPr>
        <a:defRPr lang="en-US"/>
      </a:defPPr>
      <a:lvl1pPr marL="0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56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13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2703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272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7843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5411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297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0545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>
                <a:latin typeface="Arial" pitchFamily="34" charset="0"/>
                <a:ea typeface="ＭＳ Ｐゴシック"/>
                <a:cs typeface="ＭＳ Ｐゴシック"/>
              </a:rPr>
              <a:t>Geunhyeong Lee</a:t>
            </a:r>
          </a:p>
          <a:p>
            <a:r>
              <a:rPr lang="en-US" sz="2800" dirty="0">
                <a:latin typeface="Arial" pitchFamily="34" charset="0"/>
                <a:ea typeface="ＭＳ Ｐゴシック"/>
                <a:cs typeface="ＭＳ Ｐゴシック"/>
              </a:rPr>
              <a:t>5/5/2025</a:t>
            </a:r>
          </a:p>
        </p:txBody>
      </p:sp>
      <p:sp>
        <p:nvSpPr>
          <p:cNvPr id="9219" name="Title 5"/>
          <p:cNvSpPr>
            <a:spLocks noGrp="1"/>
          </p:cNvSpPr>
          <p:nvPr>
            <p:ph type="title"/>
          </p:nvPr>
        </p:nvSpPr>
        <p:spPr>
          <a:xfrm>
            <a:off x="101606" y="3127541"/>
            <a:ext cx="12801599" cy="969644"/>
          </a:xfrm>
        </p:spPr>
        <p:txBody>
          <a:bodyPr/>
          <a:lstStyle/>
          <a:p>
            <a:r>
              <a:rPr lang="en-US" dirty="0">
                <a:latin typeface="Arial" pitchFamily="34" charset="0"/>
                <a:ea typeface="ＭＳ Ｐゴシック"/>
                <a:cs typeface="ＭＳ Ｐゴシック"/>
              </a:rPr>
              <a:t>CFD Simulation of the Target Door </a:t>
            </a:r>
            <a:br>
              <a:rPr lang="en-US" dirty="0">
                <a:latin typeface="Arial" pitchFamily="34" charset="0"/>
                <a:ea typeface="ＭＳ Ｐゴシック"/>
                <a:cs typeface="ＭＳ Ｐゴシック"/>
              </a:rPr>
            </a:br>
            <a:r>
              <a:rPr lang="en-US" dirty="0">
                <a:latin typeface="Arial" pitchFamily="34" charset="0"/>
                <a:ea typeface="ＭＳ Ｐゴシック"/>
                <a:cs typeface="ＭＳ Ｐゴシック"/>
              </a:rPr>
              <a:t>for Water Temperature Limits</a:t>
            </a:r>
          </a:p>
        </p:txBody>
      </p:sp>
    </p:spTree>
    <p:extLst>
      <p:ext uri="{BB962C8B-B14F-4D97-AF65-F5344CB8AC3E}">
        <p14:creationId xmlns:p14="http://schemas.microsoft.com/office/powerpoint/2010/main" val="1935606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AC02E76-8FF1-6757-B6C8-DAFB31FE0A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373" y="1138240"/>
                <a:ext cx="12896427" cy="5266624"/>
              </a:xfrm>
            </p:spPr>
            <p:txBody>
              <a:bodyPr/>
              <a:lstStyle/>
              <a:p>
                <a:r>
                  <a:rPr lang="en-US" dirty="0"/>
                  <a:t>Target door CFD simulation was perform to know the water temperature limitation (&lt; 100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Thermal load: 1~6 kW deposited power on the front door</a:t>
                </a:r>
              </a:p>
              <a:p>
                <a:pPr lvl="1"/>
                <a:r>
                  <a:rPr lang="en-US" dirty="0"/>
                  <a:t>Limitation: heat surface was assumed same heat distribution</a:t>
                </a:r>
              </a:p>
              <a:p>
                <a:r>
                  <a:rPr lang="en-US" dirty="0"/>
                  <a:t>Current heat exchanger performance was estimated by the COMSOL results</a:t>
                </a:r>
              </a:p>
              <a:p>
                <a:r>
                  <a:rPr lang="en-US" dirty="0"/>
                  <a:t>Remarks</a:t>
                </a:r>
              </a:p>
              <a:p>
                <a:pPr lvl="1"/>
                <a:r>
                  <a:rPr lang="en-US" dirty="0"/>
                  <a:t>Current heat exchanger would sustain by ~50 kW of primary beam power at 25% heat deposition</a:t>
                </a:r>
              </a:p>
              <a:p>
                <a:pPr lvl="1"/>
                <a:r>
                  <a:rPr lang="en-US" dirty="0"/>
                  <a:t>The detailed performance estimation should be coupled with target system heat deposition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AC02E76-8FF1-6757-B6C8-DAFB31FE0A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73" y="1138240"/>
                <a:ext cx="12896427" cy="5266624"/>
              </a:xfrm>
              <a:blipFill>
                <a:blip r:embed="rId2"/>
                <a:stretch>
                  <a:fillRect l="-1324" t="-2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0B4A149-7EE5-5C97-9365-7BEA6A2B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AD405-45A1-FD8E-FD97-1E593EC95F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 Lee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F1929-84BE-674D-A90B-510AC0129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5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5D69F7-63A5-B538-5F2F-DDFBFBD42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Geometrical model</a:t>
            </a:r>
          </a:p>
          <a:p>
            <a:pPr lvl="1"/>
            <a:r>
              <a:rPr lang="en-US" dirty="0"/>
              <a:t>Unnecessary holes were removed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A75A64-54ED-337B-A49F-4D682988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condition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5A945-D4E9-6E00-E991-639B1F6B8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F305D-B821-5C5B-43C6-A7B55C848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5F4191-282E-EBAA-FC19-142BEDC588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1"/>
          <a:stretch/>
        </p:blipFill>
        <p:spPr>
          <a:xfrm>
            <a:off x="1670680" y="1932495"/>
            <a:ext cx="9454221" cy="447236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6DEDDE-E626-E035-B5F4-5645891AA8B9}"/>
              </a:ext>
            </a:extLst>
          </p:cNvPr>
          <p:cNvCxnSpPr/>
          <p:nvPr/>
        </p:nvCxnSpPr>
        <p:spPr>
          <a:xfrm>
            <a:off x="4081807" y="4779390"/>
            <a:ext cx="367645" cy="0"/>
          </a:xfrm>
          <a:prstGeom prst="straightConnector1">
            <a:avLst/>
          </a:prstGeom>
          <a:ln>
            <a:solidFill>
              <a:srgbClr val="0070C0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4A8C8A-9FA1-543E-E9EA-88EFC0BF4281}"/>
              </a:ext>
            </a:extLst>
          </p:cNvPr>
          <p:cNvCxnSpPr/>
          <p:nvPr/>
        </p:nvCxnSpPr>
        <p:spPr>
          <a:xfrm>
            <a:off x="8429134" y="4799815"/>
            <a:ext cx="36764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E9C5B36-1721-EA2F-3639-26A0D6292923}"/>
              </a:ext>
            </a:extLst>
          </p:cNvPr>
          <p:cNvSpPr txBox="1"/>
          <p:nvPr/>
        </p:nvSpPr>
        <p:spPr>
          <a:xfrm>
            <a:off x="3563332" y="4421171"/>
            <a:ext cx="999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Fluid 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29E4D1-8DEE-4F77-7262-661D1EC262C2}"/>
              </a:ext>
            </a:extLst>
          </p:cNvPr>
          <p:cNvSpPr txBox="1"/>
          <p:nvPr/>
        </p:nvSpPr>
        <p:spPr>
          <a:xfrm>
            <a:off x="8353719" y="4413315"/>
            <a:ext cx="1082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Fluid out</a:t>
            </a:r>
          </a:p>
        </p:txBody>
      </p:sp>
    </p:spTree>
    <p:extLst>
      <p:ext uri="{BB962C8B-B14F-4D97-AF65-F5344CB8AC3E}">
        <p14:creationId xmlns:p14="http://schemas.microsoft.com/office/powerpoint/2010/main" val="3750729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5D69F7-63A5-B538-5F2F-DDFBFBD42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73" y="1138240"/>
            <a:ext cx="3520947" cy="5266624"/>
          </a:xfrm>
        </p:spPr>
        <p:txBody>
          <a:bodyPr/>
          <a:lstStyle/>
          <a:p>
            <a:r>
              <a:rPr lang="en-US" dirty="0"/>
              <a:t>Mesh</a:t>
            </a:r>
          </a:p>
          <a:p>
            <a:pPr lvl="1"/>
            <a:r>
              <a:rPr lang="en-US" dirty="0"/>
              <a:t>Using the default mesh in ANSYS Fluent</a:t>
            </a:r>
          </a:p>
          <a:p>
            <a:pPr lvl="1"/>
            <a:r>
              <a:rPr lang="en-US" dirty="0"/>
              <a:t>5 inflation layers were added to improve turbulent flow resolution</a:t>
            </a:r>
          </a:p>
          <a:p>
            <a:pPr lvl="1"/>
            <a:r>
              <a:rPr lang="en-US" dirty="0"/>
              <a:t>Min. Orthogonal Quality: 0.15</a:t>
            </a:r>
          </a:p>
          <a:p>
            <a:pPr lvl="1"/>
            <a:r>
              <a:rPr lang="en-US" dirty="0"/>
              <a:t>Max. Aspect Ratio: 18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A75A64-54ED-337B-A49F-4D682988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condition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5A945-D4E9-6E00-E991-639B1F6B8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F305D-B821-5C5B-43C6-A7B55C848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6449A-2F2B-D235-6690-F9FC714DD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346" y="1191694"/>
            <a:ext cx="5206118" cy="50875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50B36B-FC4C-ACEF-97DE-353AAF2EE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738" y="2206275"/>
            <a:ext cx="3534808" cy="30583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17699D-AF7A-225F-6D14-83204BF7CDC5}"/>
              </a:ext>
            </a:extLst>
          </p:cNvPr>
          <p:cNvSpPr txBox="1"/>
          <p:nvPr/>
        </p:nvSpPr>
        <p:spPr>
          <a:xfrm>
            <a:off x="5117493" y="6213930"/>
            <a:ext cx="2603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Overall mesh shape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798D98-CCFB-61C9-EEA7-7E1938E0B319}"/>
              </a:ext>
            </a:extLst>
          </p:cNvPr>
          <p:cNvSpPr txBox="1"/>
          <p:nvPr/>
        </p:nvSpPr>
        <p:spPr>
          <a:xfrm>
            <a:off x="9623933" y="5199988"/>
            <a:ext cx="2603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Fluid path mesh</a:t>
            </a:r>
          </a:p>
        </p:txBody>
      </p:sp>
    </p:spTree>
    <p:extLst>
      <p:ext uri="{BB962C8B-B14F-4D97-AF65-F5344CB8AC3E}">
        <p14:creationId xmlns:p14="http://schemas.microsoft.com/office/powerpoint/2010/main" val="397525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55D69F7-63A5-B538-5F2F-DDFBFBD426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CFD simulation condition</a:t>
                </a:r>
              </a:p>
              <a:p>
                <a:pPr lvl="1"/>
                <a:r>
                  <a:rPr lang="en-US" dirty="0"/>
                  <a:t>Model:</a:t>
                </a:r>
              </a:p>
              <a:p>
                <a:pPr lvl="2"/>
                <a:r>
                  <a:rPr lang="en-US" dirty="0"/>
                  <a:t>Turbulent flow, Realizable k-e, Standard wall function (Reynolds number ~ 6840)</a:t>
                </a:r>
              </a:p>
              <a:p>
                <a:pPr lvl="3"/>
                <a:r>
                  <a:rPr lang="en-US" dirty="0"/>
                  <a:t>Model constant as default</a:t>
                </a:r>
              </a:p>
              <a:p>
                <a:pPr lvl="1"/>
                <a:r>
                  <a:rPr lang="en-US" dirty="0"/>
                  <a:t>Material:</a:t>
                </a:r>
              </a:p>
              <a:p>
                <a:pPr lvl="2"/>
                <a:r>
                  <a:rPr lang="en-US" dirty="0"/>
                  <a:t>Fluid: Water (from ANSYS)</a:t>
                </a:r>
              </a:p>
              <a:p>
                <a:pPr lvl="2"/>
                <a:r>
                  <a:rPr lang="en-US" dirty="0"/>
                  <a:t>Solid: Copper (from ANSYS, Cp: 381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k: 387.6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Boundary condition</a:t>
                </a:r>
              </a:p>
              <a:p>
                <a:pPr lvl="2"/>
                <a:r>
                  <a:rPr lang="en-US" dirty="0"/>
                  <a:t>Inlet: velocity (0.48 m/s, calculated by 0.375 GPM)</a:t>
                </a:r>
              </a:p>
              <a:p>
                <a:pPr lvl="2"/>
                <a:r>
                  <a:rPr lang="en-US" dirty="0"/>
                  <a:t>Outlet: pressure (0 Pa)</a:t>
                </a:r>
              </a:p>
              <a:p>
                <a:pPr lvl="2"/>
                <a:r>
                  <a:rPr lang="en-US" dirty="0"/>
                  <a:t>Surface heat flux: 1~6 kW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55D69F7-63A5-B538-5F2F-DDFBFBD42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5" t="-2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6A75A64-54ED-337B-A49F-4D682988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condition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5A945-D4E9-6E00-E991-639B1F6B8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F305D-B821-5C5B-43C6-A7B55C848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8551507A-5805-3ABD-FBB1-54426ADC1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957" y="3044857"/>
            <a:ext cx="4194098" cy="2905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170859-2DB4-2F68-46A2-66F730FB4C77}"/>
              </a:ext>
            </a:extLst>
          </p:cNvPr>
          <p:cNvSpPr txBox="1"/>
          <p:nvPr/>
        </p:nvSpPr>
        <p:spPr>
          <a:xfrm>
            <a:off x="9358064" y="5911808"/>
            <a:ext cx="2779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Reference data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9E439D-FCEB-AEA1-12E2-FACB797F1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752" y="3919871"/>
            <a:ext cx="2565154" cy="248499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ABBB9A-DA53-7D16-B7D1-B33CFCCCD47A}"/>
              </a:ext>
            </a:extLst>
          </p:cNvPr>
          <p:cNvCxnSpPr>
            <a:cxnSpLocks/>
          </p:cNvCxnSpPr>
          <p:nvPr/>
        </p:nvCxnSpPr>
        <p:spPr>
          <a:xfrm>
            <a:off x="3579814" y="4260915"/>
            <a:ext cx="926198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500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5D69F7-63A5-B538-5F2F-DDFBFBD42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Convergence condition: 1e-6 for all residuals, converged in ~440 iterations.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A75A64-54ED-337B-A49F-4D682988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condition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5A945-D4E9-6E00-E991-639B1F6B8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F305D-B821-5C5B-43C6-A7B55C848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10B540-991F-7C2D-3966-3EB0F118A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372" y="1672198"/>
            <a:ext cx="9085714" cy="4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6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5D69F7-63A5-B538-5F2F-DDFBFBD42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Temperature results at 4 kW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A75A64-54ED-337B-A49F-4D682988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5A945-D4E9-6E00-E991-639B1F6B8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F305D-B821-5C5B-43C6-A7B55C848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7" name="Picture 6" descr="A colorful lines in a circle">
            <a:extLst>
              <a:ext uri="{FF2B5EF4-FFF2-40B4-BE49-F238E27FC236}">
                <a16:creationId xmlns:a16="http://schemas.microsoft.com/office/drawing/2014/main" id="{570B1E60-004A-7D10-C40B-EBAD82EE7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917" y="1818912"/>
            <a:ext cx="6273871" cy="4202689"/>
          </a:xfrm>
          <a:prstGeom prst="rect">
            <a:avLst/>
          </a:prstGeom>
        </p:spPr>
      </p:pic>
      <p:pic>
        <p:nvPicPr>
          <p:cNvPr id="9" name="Picture 8" descr="A diagram of a circular object&#10;&#10;Description automatically generated">
            <a:extLst>
              <a:ext uri="{FF2B5EF4-FFF2-40B4-BE49-F238E27FC236}">
                <a16:creationId xmlns:a16="http://schemas.microsoft.com/office/drawing/2014/main" id="{17179205-97F0-401F-8331-C3351A576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12" y="1818912"/>
            <a:ext cx="6153231" cy="412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0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55D69F7-63A5-B538-5F2F-DDFBFBD426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Front door radiative heat flux calculated by COMSOL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= 0.85 at all surface)</a:t>
                </a:r>
              </a:p>
              <a:p>
                <a:pPr lvl="1"/>
                <a:r>
                  <a:rPr lang="en-US" dirty="0"/>
                  <a:t>28.1 % heat deposited at the front door </a:t>
                </a:r>
              </a:p>
              <a:p>
                <a:pPr lvl="2"/>
                <a:r>
                  <a:rPr lang="en-US" dirty="0"/>
                  <a:t>for reference, 16.9 % heat deposited at the back door) 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55D69F7-63A5-B538-5F2F-DDFBFBD42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5" t="-2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6A75A64-54ED-337B-A49F-4D682988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System Simulation Results (COMSOL)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5A945-D4E9-6E00-E991-639B1F6B8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F305D-B821-5C5B-43C6-A7B55C848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0E73B6-A5DF-0C00-2AE2-48DF09739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632" y="2118510"/>
            <a:ext cx="7005721" cy="39453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C65709-92A3-51F0-796C-863A197DA1C3}"/>
              </a:ext>
            </a:extLst>
          </p:cNvPr>
          <p:cNvSpPr txBox="1"/>
          <p:nvPr/>
        </p:nvSpPr>
        <p:spPr>
          <a:xfrm>
            <a:off x="2469823" y="6044365"/>
            <a:ext cx="7833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Radiative heat flux distribution on the front door at 30 kW heat deposition</a:t>
            </a:r>
          </a:p>
        </p:txBody>
      </p:sp>
    </p:spTree>
    <p:extLst>
      <p:ext uri="{BB962C8B-B14F-4D97-AF65-F5344CB8AC3E}">
        <p14:creationId xmlns:p14="http://schemas.microsoft.com/office/powerpoint/2010/main" val="486747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55D69F7-63A5-B538-5F2F-DDFBFBD426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CFD simulation for the target system front door was performed</a:t>
                </a:r>
              </a:p>
              <a:p>
                <a:pPr lvl="1"/>
                <a:r>
                  <a:rPr lang="en-US" dirty="0"/>
                  <a:t>The CFD results assumed uniform heat deposition on the door surface</a:t>
                </a:r>
              </a:p>
              <a:p>
                <a:pPr lvl="1"/>
                <a:r>
                  <a:rPr lang="en-US" dirty="0"/>
                  <a:t>The outer surface area receives more heat; this should be considered for accurate estimation</a:t>
                </a:r>
              </a:p>
              <a:p>
                <a:r>
                  <a:rPr lang="en-US" dirty="0"/>
                  <a:t>If the target deposition is 25% under the full coating condition, it could support a primary beam power of </a:t>
                </a:r>
                <a:r>
                  <a:rPr lang="en-US" dirty="0">
                    <a:solidFill>
                      <a:srgbClr val="FF0000"/>
                    </a:solidFill>
                  </a:rPr>
                  <a:t>52 kW </a:t>
                </a:r>
                <a:r>
                  <a:rPr lang="en-US" dirty="0"/>
                  <a:t>before reaching a water temperature of 100 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55D69F7-63A5-B538-5F2F-DDFBFBD42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5" t="-2546" r="-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6A75A64-54ED-337B-A49F-4D682988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5A945-D4E9-6E00-E991-639B1F6B8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F305D-B821-5C5B-43C6-A7B55C848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9FECC7-C00F-DDCC-9B83-9DC4AD7D7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323" y="2912837"/>
            <a:ext cx="5634415" cy="34920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1D97B0-B5FF-77C4-6E8C-F4C82CD30B92}"/>
                  </a:ext>
                </a:extLst>
              </p:cNvPr>
              <p:cNvSpPr txBox="1"/>
              <p:nvPr/>
            </p:nvSpPr>
            <p:spPr>
              <a:xfrm>
                <a:off x="5318466" y="3302248"/>
                <a:ext cx="27526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</a:rPr>
                  <a:t>T [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] = 16.9Q [kW] + 38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1D97B0-B5FF-77C4-6E8C-F4C82CD30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466" y="3302248"/>
                <a:ext cx="2752627" cy="369332"/>
              </a:xfrm>
              <a:prstGeom prst="rect">
                <a:avLst/>
              </a:prstGeom>
              <a:blipFill>
                <a:blip r:embed="rId4"/>
                <a:stretch>
                  <a:fillRect l="-177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CE908-BC06-C7D9-E1A0-6F8315E6B3EB}"/>
              </a:ext>
            </a:extLst>
          </p:cNvPr>
          <p:cNvCxnSpPr>
            <a:cxnSpLocks/>
          </p:cNvCxnSpPr>
          <p:nvPr/>
        </p:nvCxnSpPr>
        <p:spPr>
          <a:xfrm flipH="1" flipV="1">
            <a:off x="6760768" y="4411745"/>
            <a:ext cx="224189" cy="49962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E8A3A10-D397-D6A7-BF7B-FA51A4A9A141}"/>
              </a:ext>
            </a:extLst>
          </p:cNvPr>
          <p:cNvSpPr txBox="1"/>
          <p:nvPr/>
        </p:nvSpPr>
        <p:spPr>
          <a:xfrm>
            <a:off x="6958731" y="4807671"/>
            <a:ext cx="130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3.67 kW</a:t>
            </a:r>
          </a:p>
        </p:txBody>
      </p:sp>
    </p:spTree>
    <p:extLst>
      <p:ext uri="{BB962C8B-B14F-4D97-AF65-F5344CB8AC3E}">
        <p14:creationId xmlns:p14="http://schemas.microsoft.com/office/powerpoint/2010/main" val="2892149426"/>
      </p:ext>
    </p:extLst>
  </p:cSld>
  <p:clrMapOvr>
    <a:masterClrMapping/>
  </p:clrMapOvr>
</p:sld>
</file>

<file path=ppt/theme/theme1.xml><?xml version="1.0" encoding="utf-8"?>
<a:theme xmlns:a="http://schemas.openxmlformats.org/drawingml/2006/main" name="2_FRIB3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10_CKG FRIB no-line h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KG FRIB no-line h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KG FRIB no-line h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8">
        <a:dk1>
          <a:srgbClr val="000000"/>
        </a:dk1>
        <a:lt1>
          <a:srgbClr val="FFFFFF"/>
        </a:lt1>
        <a:dk2>
          <a:srgbClr val="1F1DE8"/>
        </a:dk2>
        <a:lt2>
          <a:srgbClr val="007469"/>
        </a:lt2>
        <a:accent1>
          <a:srgbClr val="FC0128"/>
        </a:accent1>
        <a:accent2>
          <a:srgbClr val="CF16CE"/>
        </a:accent2>
        <a:accent3>
          <a:srgbClr val="FFFFFF"/>
        </a:accent3>
        <a:accent4>
          <a:srgbClr val="000000"/>
        </a:accent4>
        <a:accent5>
          <a:srgbClr val="FDAAAC"/>
        </a:accent5>
        <a:accent6>
          <a:srgbClr val="BB13BA"/>
        </a:accent6>
        <a:hlink>
          <a:srgbClr val="F39FD1"/>
        </a:hlink>
        <a:folHlink>
          <a:srgbClr val="7C0F5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RIB-PowerPoint-Template-16x9-v5" id="{386E0BD5-C86C-4D62-9771-31771216E89C}" vid="{4ACF4385-ADC6-4C4F-9B7B-D66EF0FAE7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51A918-08D5-449F-8A17-B243F558068D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rchive_x0020_Date xmlns="31ac3772-10db-466f-87b2-5ca6a813de61" xsi:nil="true"/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5FAECBD9524743810300543FD35949" ma:contentTypeVersion="12" ma:contentTypeDescription="Create a new document." ma:contentTypeScope="" ma:versionID="4e1ce8c434ccf00c254609ea64994656">
  <xsd:schema xmlns:xsd="http://www.w3.org/2001/XMLSchema" xmlns:xs="http://www.w3.org/2001/XMLSchema" xmlns:p="http://schemas.microsoft.com/office/2006/metadata/properties" xmlns:ns2="31ac3772-10db-466f-87b2-5ca6a813de61" xmlns:ns3="http://schemas.microsoft.com/sharepoint/v4" xmlns:ns4="eabd35fa-70f7-4707-bb94-f0fb9d38b1ac" targetNamespace="http://schemas.microsoft.com/office/2006/metadata/properties" ma:root="true" ma:fieldsID="898c19f0ea3f647f1e89aefed0092a7b" ns2:_="" ns3:_="" ns4:_="">
    <xsd:import namespace="31ac3772-10db-466f-87b2-5ca6a813de61"/>
    <xsd:import namespace="http://schemas.microsoft.com/sharepoint/v4"/>
    <xsd:import namespace="eabd35fa-70f7-4707-bb94-f0fb9d38b1ac"/>
    <xsd:element name="properties">
      <xsd:complexType>
        <xsd:sequence>
          <xsd:element name="documentManagement">
            <xsd:complexType>
              <xsd:all>
                <xsd:element ref="ns2:Archive_x0020_Date" minOccurs="0"/>
                <xsd:element ref="ns3:IconOverlay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ac3772-10db-466f-87b2-5ca6a813de61" elementFormDefault="qualified">
    <xsd:import namespace="http://schemas.microsoft.com/office/2006/documentManagement/types"/>
    <xsd:import namespace="http://schemas.microsoft.com/office/infopath/2007/PartnerControls"/>
    <xsd:element name="Archive_x0020_Date" ma:index="8" nillable="true" ma:displayName="Archive Date" ma:format="DateOnly" ma:internalName="Archive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bd35fa-70f7-4707-bb94-f0fb9d38b1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18382-7B1A-46A6-9E5B-B59119FCF067}">
  <ds:schemaRefs>
    <ds:schemaRef ds:uri="http://purl.org/dc/terms/"/>
    <ds:schemaRef ds:uri="http://schemas.microsoft.com/office/2006/metadata/properties"/>
    <ds:schemaRef ds:uri="http://purl.org/dc/elements/1.1/"/>
    <ds:schemaRef ds:uri="http://www.w3.org/XML/1998/namespace"/>
    <ds:schemaRef ds:uri="eabd35fa-70f7-4707-bb94-f0fb9d38b1ac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sharepoint/v4"/>
    <ds:schemaRef ds:uri="31ac3772-10db-466f-87b2-5ca6a813de61"/>
  </ds:schemaRefs>
</ds:datastoreItem>
</file>

<file path=customXml/itemProps2.xml><?xml version="1.0" encoding="utf-8"?>
<ds:datastoreItem xmlns:ds="http://schemas.openxmlformats.org/officeDocument/2006/customXml" ds:itemID="{7D8170BE-7DDA-48D5-AC64-64C484AAB4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ac3772-10db-466f-87b2-5ca6a813de61"/>
    <ds:schemaRef ds:uri="http://schemas.microsoft.com/sharepoint/v4"/>
    <ds:schemaRef ds:uri="eabd35fa-70f7-4707-bb94-f0fb9d38b1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04514C-E1EA-4DB1-85FB-832E60D4A4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194820</TotalTime>
  <Words>477</Words>
  <Application>Microsoft Office PowerPoint</Application>
  <PresentationFormat>Custom</PresentationFormat>
  <Paragraphs>70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Lucida Grande</vt:lpstr>
      <vt:lpstr>Arial</vt:lpstr>
      <vt:lpstr>Calibri</vt:lpstr>
      <vt:lpstr>Cambria Math</vt:lpstr>
      <vt:lpstr>Helvetica</vt:lpstr>
      <vt:lpstr>Wingdings</vt:lpstr>
      <vt:lpstr>2_FRIB3</vt:lpstr>
      <vt:lpstr>CFD Simulation of the Target Door  for Water Temperature Limits</vt:lpstr>
      <vt:lpstr>Overview</vt:lpstr>
      <vt:lpstr>Simulation condition</vt:lpstr>
      <vt:lpstr>Simulation condition</vt:lpstr>
      <vt:lpstr>Simulation condition</vt:lpstr>
      <vt:lpstr>Simulation condition</vt:lpstr>
      <vt:lpstr>Simulation results</vt:lpstr>
      <vt:lpstr>Target System Simulation Results (COMSOL)</vt:lpstr>
      <vt:lpstr>Conclusions</vt:lpstr>
    </vt:vector>
  </TitlesOfParts>
  <Company>FRIB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FRIB User Facility Overview</dc:title>
  <dc:creator>Lee, Geunhyeong</dc:creator>
  <cp:lastModifiedBy>Geunhyeong Lee</cp:lastModifiedBy>
  <cp:revision>2129</cp:revision>
  <cp:lastPrinted>2018-07-13T15:20:28Z</cp:lastPrinted>
  <dcterms:created xsi:type="dcterms:W3CDTF">2016-02-09T17:27:26Z</dcterms:created>
  <dcterms:modified xsi:type="dcterms:W3CDTF">2025-05-05T19:16:32Z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0x010100CF5FAECBD9524743810300543FD35949</vt:lpwstr>
  </property>
  <property fmtid="{D5CDD505-2E9C-101B-9397-08002B2CF9AE}" pid="3" name="Order">
    <vt:r8>7708800</vt:r8>
  </property>
</Properties>
</file>