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23"/>
  </p:notesMasterIdLst>
  <p:handoutMasterIdLst>
    <p:handoutMasterId r:id="rId24"/>
  </p:handoutMasterIdLst>
  <p:sldIdLst>
    <p:sldId id="745" r:id="rId5"/>
    <p:sldId id="838" r:id="rId6"/>
    <p:sldId id="853" r:id="rId7"/>
    <p:sldId id="843" r:id="rId8"/>
    <p:sldId id="848" r:id="rId9"/>
    <p:sldId id="854" r:id="rId10"/>
    <p:sldId id="867" r:id="rId11"/>
    <p:sldId id="855" r:id="rId12"/>
    <p:sldId id="856" r:id="rId13"/>
    <p:sldId id="857" r:id="rId14"/>
    <p:sldId id="858" r:id="rId15"/>
    <p:sldId id="859" r:id="rId16"/>
    <p:sldId id="860" r:id="rId17"/>
    <p:sldId id="861" r:id="rId18"/>
    <p:sldId id="862" r:id="rId19"/>
    <p:sldId id="863" r:id="rId20"/>
    <p:sldId id="864" r:id="rId21"/>
    <p:sldId id="865" r:id="rId22"/>
  </p:sldIdLst>
  <p:sldSz cx="13004800" cy="73152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71F"/>
    <a:srgbClr val="DE8066"/>
    <a:srgbClr val="F07F09"/>
    <a:srgbClr val="8AC4E2"/>
    <a:srgbClr val="A8D3A8"/>
    <a:srgbClr val="ECB53C"/>
    <a:srgbClr val="E6E6E6"/>
    <a:srgbClr val="EBB33D"/>
    <a:srgbClr val="EDB839"/>
    <a:srgbClr val="D96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5" autoAdjust="0"/>
    <p:restoredTop sz="93800" autoAdjust="0"/>
  </p:normalViewPr>
  <p:slideViewPr>
    <p:cSldViewPr snapToGrid="0">
      <p:cViewPr varScale="1">
        <p:scale>
          <a:sx n="105" d="100"/>
          <a:sy n="105" d="100"/>
        </p:scale>
        <p:origin x="120" y="102"/>
      </p:cViewPr>
      <p:guideLst>
        <p:guide orient="horz" pos="2304"/>
        <p:guide pos="40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213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8326ABB-3EEB-47B7-AD7F-CF23ED7FE83C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DADF62D-6416-4B58-9969-1681054BE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0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r">
              <a:defRPr sz="1200"/>
            </a:lvl1pPr>
          </a:lstStyle>
          <a:p>
            <a:fld id="{666E12AD-0F3F-457A-995A-447FB9AC83D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6" rIns="93170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0" tIns="46586" rIns="93170" bIns="4658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r">
              <a:defRPr sz="1200"/>
            </a:lvl1pPr>
          </a:lstStyle>
          <a:p>
            <a:fld id="{1FDF26B1-DE9A-4EC9-A610-93C778CE0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50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546350" y="876300"/>
            <a:ext cx="4203700" cy="23653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Rectangle 2051"/>
          <p:cNvSpPr>
            <a:spLocks noGrp="1"/>
          </p:cNvSpPr>
          <p:nvPr>
            <p:ph type="body" idx="1"/>
          </p:nvPr>
        </p:nvSpPr>
        <p:spPr bwMode="auto">
          <a:xfrm>
            <a:off x="927956" y="3369846"/>
            <a:ext cx="7423623" cy="3191908"/>
          </a:xfrm>
          <a:prstGeom prst="rect">
            <a:avLst/>
          </a:prstGeom>
          <a:noFill/>
        </p:spPr>
        <p:txBody>
          <a:bodyPr/>
          <a:lstStyle/>
          <a:p>
            <a:endParaRPr lang="en-US" dirty="0" smtClean="0"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77545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07417" y="1320800"/>
            <a:ext cx="10652411" cy="4771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2210" tIns="46105" rIns="92210" bIns="46105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2773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167467" y="4343401"/>
            <a:ext cx="8669867" cy="1219200"/>
          </a:xfrm>
        </p:spPr>
        <p:txBody>
          <a:bodyPr/>
          <a:lstStyle>
            <a:lvl1pPr marL="0" indent="0" algn="ctr">
              <a:buNone/>
              <a:defRPr/>
            </a:lvl1pPr>
            <a:lvl2pPr marL="461110" indent="0" algn="ctr">
              <a:buNone/>
              <a:defRPr/>
            </a:lvl2pPr>
            <a:lvl3pPr marL="922217" indent="0" algn="ctr">
              <a:buNone/>
              <a:defRPr/>
            </a:lvl3pPr>
            <a:lvl4pPr marL="1383325" indent="0" algn="ctr">
              <a:buNone/>
              <a:defRPr/>
            </a:lvl4pPr>
            <a:lvl5pPr marL="1844435" indent="0" algn="ctr">
              <a:buNone/>
              <a:defRPr/>
            </a:lvl5pPr>
            <a:lvl6pPr marL="2305543" indent="0" algn="ctr">
              <a:buNone/>
              <a:defRPr/>
            </a:lvl6pPr>
            <a:lvl7pPr marL="2766652" indent="0" algn="ctr">
              <a:buNone/>
              <a:defRPr/>
            </a:lvl7pPr>
            <a:lvl8pPr marL="3227758" indent="0" algn="ctr">
              <a:buNone/>
              <a:defRPr/>
            </a:lvl8pPr>
            <a:lvl9pPr marL="368886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6" y="3357103"/>
            <a:ext cx="12801599" cy="5105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56061" tIns="22425" rIns="56061" bIns="22425"/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0" y="6812965"/>
            <a:ext cx="13004800" cy="454149"/>
          </a:xfrm>
          <a:prstGeom prst="rect">
            <a:avLst/>
          </a:prstGeom>
          <a:noFill/>
        </p:spPr>
        <p:txBody>
          <a:bodyPr wrap="square" lIns="92252" tIns="46126" rIns="92252" bIns="46126" rtlCol="0">
            <a:spAutoFit/>
          </a:bodyPr>
          <a:lstStyle/>
          <a:p>
            <a:pPr algn="ctr"/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This material is based upon work supported by the U.S. Department of Energy, Office of Science, Office of Nuclear Physics and used resources of</a:t>
            </a:r>
          </a:p>
          <a:p>
            <a:pPr algn="ctr"/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the</a:t>
            </a:r>
            <a:r>
              <a:rPr lang="en-US" sz="1173" kern="1200" baseline="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 </a:t>
            </a:r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Facility for Rare Isotope Beams (FRIB) Operations, which is a DOE Office of Science User Facility under Award Number DE-SC0023633.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282897" y="442928"/>
            <a:ext cx="3901440" cy="22399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583032"/>
            <a:ext cx="1706880" cy="2180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120" y="6018699"/>
            <a:ext cx="3413760" cy="7480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55" y="6019159"/>
            <a:ext cx="2828544" cy="6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286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266624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6502401" y="6780213"/>
            <a:ext cx="5418674" cy="388937"/>
          </a:xfrm>
        </p:spPr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frib.msu.edu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33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4551360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5770880"/>
            <a:ext cx="13004800" cy="73152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0" y="6407568"/>
            <a:ext cx="13004800" cy="81280"/>
          </a:xfrm>
          <a:prstGeom prst="rect">
            <a:avLst/>
          </a:prstGeom>
          <a:solidFill>
            <a:srgbClr val="006633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5770880"/>
            <a:ext cx="12895462" cy="623147"/>
          </a:xfrm>
        </p:spPr>
        <p:txBody>
          <a:bodyPr anchor="ctr"/>
          <a:lstStyle>
            <a:lvl1pPr marL="146257" indent="0">
              <a:spcBef>
                <a:spcPts val="0"/>
              </a:spcBef>
              <a:buNone/>
              <a:defRPr b="1" baseline="0"/>
            </a:lvl1pPr>
          </a:lstStyle>
          <a:p>
            <a:pPr lvl="0"/>
            <a:r>
              <a:rPr lang="en-US" dirty="0" smtClean="0"/>
              <a:t>Add takeaway message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785003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4" y="1138240"/>
            <a:ext cx="6290816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6605618" y="1143008"/>
            <a:ext cx="6290812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4F88C639-55E7-4D97-AC8D-4B42A67367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54622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6" y="1138246"/>
            <a:ext cx="12788059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108376" y="3820168"/>
            <a:ext cx="12788059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BCDB990A-6268-4898-A641-7F04AAB15E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2674047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8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5" y="1138246"/>
            <a:ext cx="6285653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6578538" y="1138246"/>
            <a:ext cx="631790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108388" y="3820168"/>
            <a:ext cx="628565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6578538" y="3820168"/>
            <a:ext cx="631790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74887700-F8AD-4E75-9DA6-99EB4D2760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449310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4" name="Picture 5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CF988859-7953-4624-98C4-717249B46A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131950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clea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17151" y="6467682"/>
            <a:ext cx="13004800" cy="8778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565309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745056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965237"/>
            <a:ext cx="9753600" cy="177872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BB48-2997-4352-B8C4-DBD3AEB7C3F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6C6-36C9-46CA-99DF-7FCD28A98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6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518" y="85256"/>
            <a:ext cx="12789774" cy="5105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6076" tIns="22431" rIns="56076" bIns="22431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18" y="1138240"/>
            <a:ext cx="12789774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888974" y="6780213"/>
            <a:ext cx="6032101" cy="388937"/>
          </a:xfrm>
          <a:prstGeom prst="rect">
            <a:avLst/>
          </a:prstGeom>
        </p:spPr>
        <p:txBody>
          <a:bodyPr lIns="0" tIns="45712" rIns="0" bIns="45712" anchor="b"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921067" y="6780213"/>
            <a:ext cx="1083733" cy="388937"/>
          </a:xfrm>
          <a:prstGeom prst="rect">
            <a:avLst/>
          </a:prstGeom>
        </p:spPr>
        <p:txBody>
          <a:bodyPr vert="horz" wrap="square" lIns="0" tIns="45712" rIns="0" bIns="45712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0000"/>
              </a:lnSpc>
              <a:defRPr sz="1280">
                <a:solidFill>
                  <a:srgbClr val="064308"/>
                </a:solidFill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D30A2C6D-39BC-4576-856C-8743CF76CCF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7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2pPr>
      <a:lvl3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3pPr>
      <a:lvl4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4pPr>
      <a:lvl5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5pPr>
      <a:lvl6pPr marL="48756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6pPr>
      <a:lvl7pPr marL="97513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7pPr>
      <a:lvl8pPr marL="1462703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8pPr>
      <a:lvl9pPr marL="1950272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9pPr>
    </p:titleStyle>
    <p:bodyStyle>
      <a:lvl1pPr marL="192214" indent="-192214" algn="l" defTabSz="856955" rtl="0" eaLnBrk="1" fontAlgn="base" hangingPunct="1">
        <a:lnSpc>
          <a:spcPct val="90000"/>
        </a:lnSpc>
        <a:spcBef>
          <a:spcPts val="1286"/>
        </a:spcBef>
        <a:spcAft>
          <a:spcPct val="0"/>
        </a:spcAft>
        <a:buSzPct val="100000"/>
        <a:buFont typeface="Wingdings" pitchFamily="2" charset="2"/>
        <a:buChar char="§"/>
        <a:defRPr sz="2347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marL="387632" indent="-161781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Arial" pitchFamily="34" charset="0"/>
        <a:buChar char="•"/>
        <a:defRPr sz="2133">
          <a:solidFill>
            <a:schemeClr val="tx1"/>
          </a:solidFill>
          <a:latin typeface="Arial" charset="0"/>
          <a:ea typeface="ＭＳ Ｐゴシック" charset="-128"/>
          <a:cs typeface="ＭＳ Ｐゴシック"/>
        </a:defRPr>
      </a:lvl2pPr>
      <a:lvl3pPr marL="631103" indent="-171390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Lucida Grande" charset="0"/>
        <a:buChar char="»"/>
        <a:defRPr>
          <a:solidFill>
            <a:schemeClr val="tx1"/>
          </a:solidFill>
          <a:latin typeface="Arial" charset="0"/>
          <a:ea typeface="ヒラギノ角ゴ Pro W3" pitchFamily="-111" charset="-128"/>
          <a:cs typeface="ヒラギノ角ゴ Pro W3" pitchFamily="-111" charset="-128"/>
        </a:defRPr>
      </a:lvl3pPr>
      <a:lvl4pPr marL="776867" indent="-142559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Arial" pitchFamily="34" charset="0"/>
        <a:buChar char="•"/>
        <a:defRPr sz="1707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4pPr>
      <a:lvl5pPr marL="1069993" indent="-192214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Lucida Grande" charset="0"/>
        <a:buChar char="»"/>
        <a:defRPr sz="1493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5pPr>
      <a:lvl6pPr marL="237181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6pPr>
      <a:lvl7pPr marL="285938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7pPr>
      <a:lvl8pPr marL="334695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8pPr>
      <a:lvl9pPr marL="3834522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9pPr>
    </p:bodyStyle>
    <p:otherStyle>
      <a:defPPr>
        <a:defRPr lang="en-US"/>
      </a:defPPr>
      <a:lvl1pPr marL="0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56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13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270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272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784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5411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297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0545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 smtClean="0">
                <a:latin typeface="Arial" pitchFamily="34" charset="0"/>
                <a:ea typeface="ＭＳ Ｐゴシック"/>
                <a:cs typeface="ＭＳ Ｐゴシック"/>
              </a:rPr>
              <a:t>Geunhyeong Lee</a:t>
            </a:r>
          </a:p>
          <a:p>
            <a:r>
              <a:rPr lang="en-US" sz="2800" dirty="0" smtClean="0">
                <a:latin typeface="Arial" pitchFamily="34" charset="0"/>
                <a:ea typeface="ＭＳ Ｐゴシック"/>
                <a:cs typeface="ＭＳ Ｐゴシック"/>
              </a:rPr>
              <a:t>1/08/2025</a:t>
            </a:r>
            <a:endParaRPr lang="en-US" sz="2800" dirty="0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219" name="Title 5"/>
          <p:cNvSpPr>
            <a:spLocks noGrp="1"/>
          </p:cNvSpPr>
          <p:nvPr>
            <p:ph type="title"/>
          </p:nvPr>
        </p:nvSpPr>
        <p:spPr>
          <a:xfrm>
            <a:off x="101606" y="3358630"/>
            <a:ext cx="12801599" cy="507466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ea typeface="ＭＳ Ｐゴシック"/>
                <a:cs typeface="ＭＳ Ｐゴシック"/>
              </a:rPr>
              <a:t>Weekly Progress meeting</a:t>
            </a:r>
          </a:p>
        </p:txBody>
      </p:sp>
    </p:spTree>
    <p:extLst>
      <p:ext uri="{BB962C8B-B14F-4D97-AF65-F5344CB8AC3E}">
        <p14:creationId xmlns:p14="http://schemas.microsoft.com/office/powerpoint/2010/main" val="193560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8374" y="1138240"/>
            <a:ext cx="10046420" cy="5266624"/>
          </a:xfrm>
        </p:spPr>
        <p:txBody>
          <a:bodyPr/>
          <a:lstStyle/>
          <a:p>
            <a:r>
              <a:rPr lang="en-US" dirty="0" smtClean="0"/>
              <a:t>Rotating beam dump analysis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Target spindle experiments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68472" y="2066544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Compared to the Tracy’s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1584" y="2066543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3D Radiolysis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2168" y="2066543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Beam dump shape optimization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34888" y="2143945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7868964" y="2143945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68472" y="4563332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Analysis of </a:t>
            </a:r>
            <a:br>
              <a:rPr lang="en-US" dirty="0" smtClean="0"/>
            </a:br>
            <a:r>
              <a:rPr lang="en-US" dirty="0" smtClean="0"/>
              <a:t>previous experiments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1584" y="4563331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Preparing for the following experiment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1418" y="4701830"/>
            <a:ext cx="245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Conduct experiments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134888" y="4640733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>
            <a:off x="7868964" y="4640733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8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8374" y="1138240"/>
            <a:ext cx="10046420" cy="5266624"/>
          </a:xfrm>
        </p:spPr>
        <p:txBody>
          <a:bodyPr/>
          <a:lstStyle/>
          <a:p>
            <a:r>
              <a:rPr lang="en-US" dirty="0" smtClean="0"/>
              <a:t>Rotating beam dump analysis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Target spindle experiments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68472" y="2066544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Compared to the Tracy’s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1584" y="2066543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3D Radiolysis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2168" y="2066543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Beam dump shape optimization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34888" y="2143945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7868964" y="2143945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68472" y="4563332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Analysis of 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previous experiments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1584" y="4563331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Preparing for the following experiment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1418" y="4701830"/>
            <a:ext cx="245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Conduct experiments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134888" y="4640733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>
            <a:off x="7868964" y="4640733"/>
            <a:ext cx="996696" cy="521208"/>
          </a:xfrm>
          <a:prstGeom prst="rightArrow">
            <a:avLst>
              <a:gd name="adj1" fmla="val 25439"/>
              <a:gd name="adj2" fmla="val 6228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12924" y="2756477"/>
            <a:ext cx="218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smtClean="0">
                <a:solidFill>
                  <a:srgbClr val="FF0000"/>
                </a:solidFill>
              </a:rPr>
              <a:t>Current progress</a:t>
            </a:r>
            <a:endParaRPr lang="en-US" i="1" u="sng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924" y="5209662"/>
            <a:ext cx="218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smtClean="0">
                <a:solidFill>
                  <a:srgbClr val="FF0000"/>
                </a:solidFill>
              </a:rPr>
              <a:t>Current progress</a:t>
            </a:r>
            <a:endParaRPr lang="en-US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14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8374" y="1138240"/>
            <a:ext cx="12665794" cy="5266624"/>
          </a:xfrm>
        </p:spPr>
        <p:txBody>
          <a:bodyPr/>
          <a:lstStyle/>
          <a:p>
            <a:r>
              <a:rPr lang="en-US" dirty="0" smtClean="0"/>
              <a:t>Velocity on 2D plane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COMSOL results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440" y="3902554"/>
            <a:ext cx="4540817" cy="24807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751" y="3799919"/>
            <a:ext cx="4916551" cy="26859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895" y="1309660"/>
            <a:ext cx="4557849" cy="2490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440" y="1402635"/>
            <a:ext cx="4575961" cy="249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ANSYS results (with post)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75 rpm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 smtClean="0"/>
              <a:t>150 rpm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 smtClean="0"/>
              <a:t>300 rpm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smtClean="0"/>
              <a:t>600 rpm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043981" y="6780107"/>
            <a:ext cx="4524587" cy="389467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Tracy Xu, Beam Dump Drum Thermal Fluids Simulation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566400" y="6780107"/>
            <a:ext cx="812800" cy="389467"/>
          </a:xfrm>
        </p:spPr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240" y="4275565"/>
            <a:ext cx="4632960" cy="225332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11" y="4277898"/>
            <a:ext cx="4632948" cy="22509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r="835"/>
          <a:stretch/>
        </p:blipFill>
        <p:spPr>
          <a:xfrm>
            <a:off x="6746240" y="1529615"/>
            <a:ext cx="4632960" cy="22701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1" y="1523692"/>
            <a:ext cx="4632959" cy="22609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09" y="-3176"/>
            <a:ext cx="2888932" cy="32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3" dirty="0"/>
              <a:t>FRIB-T40510-RC-008136-R001</a:t>
            </a:r>
          </a:p>
        </p:txBody>
      </p:sp>
    </p:spTree>
    <p:extLst>
      <p:ext uri="{BB962C8B-B14F-4D97-AF65-F5344CB8AC3E}">
        <p14:creationId xmlns:p14="http://schemas.microsoft.com/office/powerpoint/2010/main" val="128692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ANSYS results (</a:t>
            </a:r>
            <a:r>
              <a:rPr lang="en-US" dirty="0" smtClean="0"/>
              <a:t>without </a:t>
            </a:r>
            <a:r>
              <a:rPr lang="en-US" dirty="0"/>
              <a:t>post)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75 rpm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 smtClean="0"/>
              <a:t>150 rpm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 smtClean="0"/>
              <a:t>300 rpm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smtClean="0"/>
              <a:t>600 rpm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043981" y="6780107"/>
            <a:ext cx="4524587" cy="389467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Tracy Xu, Beam Dump Drum Thermal Fluids Simulation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566400" y="6780107"/>
            <a:ext cx="812800" cy="389467"/>
          </a:xfrm>
        </p:spPr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960" y="4262747"/>
            <a:ext cx="4704081" cy="22661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4262748"/>
            <a:ext cx="4650689" cy="22661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960" y="1553158"/>
            <a:ext cx="4714240" cy="22675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1" y="1572875"/>
            <a:ext cx="4650688" cy="21609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77209" y="5776"/>
            <a:ext cx="2888932" cy="32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3" dirty="0"/>
              <a:t>FRIB-T40510-RC-008135-R001</a:t>
            </a:r>
          </a:p>
        </p:txBody>
      </p:sp>
    </p:spTree>
    <p:extLst>
      <p:ext uri="{BB962C8B-B14F-4D97-AF65-F5344CB8AC3E}">
        <p14:creationId xmlns:p14="http://schemas.microsoft.com/office/powerpoint/2010/main" val="81406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8374" y="1138240"/>
            <a:ext cx="10046420" cy="5266624"/>
          </a:xfrm>
        </p:spPr>
        <p:txBody>
          <a:bodyPr/>
          <a:lstStyle/>
          <a:p>
            <a:r>
              <a:rPr lang="en-US" dirty="0" smtClean="0"/>
              <a:t>Simulation </a:t>
            </a:r>
            <a:r>
              <a:rPr lang="en-US" dirty="0" smtClean="0"/>
              <a:t>(with post) will be performed next week.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progress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31" y="3013934"/>
            <a:ext cx="4650689" cy="22661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l="8120" t="21088" r="51002" b="39443"/>
          <a:stretch/>
        </p:blipFill>
        <p:spPr>
          <a:xfrm>
            <a:off x="2139695" y="3307382"/>
            <a:ext cx="3739897" cy="197269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l="89418" t="8281" r="1928" b="2448"/>
          <a:stretch/>
        </p:blipFill>
        <p:spPr>
          <a:xfrm>
            <a:off x="1524000" y="3170222"/>
            <a:ext cx="449453" cy="253265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3"/>
          <a:srcRect l="39536" t="1263" r="31512" b="93249"/>
          <a:stretch/>
        </p:blipFill>
        <p:spPr>
          <a:xfrm>
            <a:off x="625474" y="2937558"/>
            <a:ext cx="2246503" cy="2326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3897" y="2408685"/>
            <a:ext cx="203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(300 rpm case)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368060" y="3358627"/>
            <a:ext cx="1527048" cy="1576754"/>
          </a:xfrm>
          <a:prstGeom prst="ellipse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0292562" y="3307382"/>
            <a:ext cx="1527048" cy="1576754"/>
          </a:xfrm>
          <a:prstGeom prst="ellipse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47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8374" y="1138240"/>
            <a:ext cx="10046420" cy="5266624"/>
          </a:xfrm>
        </p:spPr>
        <p:txBody>
          <a:bodyPr/>
          <a:lstStyle/>
          <a:p>
            <a:r>
              <a:rPr lang="en-US" dirty="0" smtClean="0"/>
              <a:t>Free vortex vs forced vortex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progress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2" y="2324614"/>
            <a:ext cx="5792008" cy="35437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624" y="2783583"/>
            <a:ext cx="5801535" cy="27721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22039" y="5983313"/>
            <a:ext cx="90092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/>
              <a:t>https://uta.pressbooks.pub/appliedfluidmechanics/chapter/experiment-8/</a:t>
            </a:r>
          </a:p>
        </p:txBody>
      </p:sp>
    </p:spTree>
    <p:extLst>
      <p:ext uri="{BB962C8B-B14F-4D97-AF65-F5344CB8AC3E}">
        <p14:creationId xmlns:p14="http://schemas.microsoft.com/office/powerpoint/2010/main" val="1111306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8374" y="1138240"/>
            <a:ext cx="12071434" cy="5266624"/>
          </a:xfrm>
        </p:spPr>
        <p:txBody>
          <a:bodyPr/>
          <a:lstStyle/>
          <a:p>
            <a:r>
              <a:rPr lang="en-US" dirty="0" smtClean="0"/>
              <a:t>Rotating target system data (0905, 1000 rpm (start 7:35, end 18:00))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 results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10160121" y="3444195"/>
          <a:ext cx="1993500" cy="119251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44439">
                  <a:extLst>
                    <a:ext uri="{9D8B030D-6E8A-4147-A177-3AD203B41FA5}">
                      <a16:colId xmlns:a16="http://schemas.microsoft.com/office/drawing/2014/main" val="2519265184"/>
                    </a:ext>
                  </a:extLst>
                </a:gridCol>
                <a:gridCol w="649061">
                  <a:extLst>
                    <a:ext uri="{9D8B030D-6E8A-4147-A177-3AD203B41FA5}">
                      <a16:colId xmlns:a16="http://schemas.microsoft.com/office/drawing/2014/main" val="615461150"/>
                    </a:ext>
                  </a:extLst>
                </a:gridCol>
              </a:tblGrid>
              <a:tr h="2891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solidFill>
                            <a:srgbClr val="7030A0"/>
                          </a:solidFill>
                          <a:effectLst/>
                          <a:latin typeface="+mj-lt"/>
                        </a:rPr>
                        <a:t>TC0 [C]</a:t>
                      </a:r>
                      <a:endParaRPr lang="en-US" sz="1100" b="1" i="0" u="none" strike="noStrike" dirty="0">
                        <a:solidFill>
                          <a:srgbClr val="7030A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47.4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3475218"/>
                  </a:ext>
                </a:extLst>
              </a:tr>
              <a:tr h="3011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TC1 [C</a:t>
                      </a:r>
                      <a:r>
                        <a:rPr lang="en-US" sz="1100" b="1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]</a:t>
                      </a:r>
                      <a:endParaRPr lang="en-US" sz="11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dirty="0" smtClean="0">
                          <a:effectLst/>
                          <a:latin typeface="+mj-lt"/>
                        </a:rPr>
                        <a:t>74.1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250980"/>
                  </a:ext>
                </a:extLst>
              </a:tr>
              <a:tr h="301110">
                <a:tc>
                  <a:txBody>
                    <a:bodyPr/>
                    <a:lstStyle/>
                    <a:p>
                      <a:pPr algn="ctr" fontAlgn="b"/>
                      <a:r>
                        <a:rPr lang="nb-NO" sz="1100" b="1" u="none" strike="noStrike" dirty="0" smtClean="0">
                          <a:solidFill>
                            <a:srgbClr val="FFC000"/>
                          </a:solidFill>
                          <a:effectLst/>
                          <a:latin typeface="+mj-lt"/>
                        </a:rPr>
                        <a:t>TC2 [C</a:t>
                      </a:r>
                      <a:r>
                        <a:rPr lang="nb-NO" sz="1100" b="1" u="none" strike="noStrike" dirty="0">
                          <a:solidFill>
                            <a:srgbClr val="FFC000"/>
                          </a:solidFill>
                          <a:effectLst/>
                          <a:latin typeface="+mj-lt"/>
                        </a:rPr>
                        <a:t>]</a:t>
                      </a:r>
                      <a:endParaRPr lang="nb-NO" sz="1100" b="1" i="0" u="none" strike="noStrike" dirty="0">
                        <a:solidFill>
                          <a:srgbClr val="FFC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dirty="0" smtClean="0">
                          <a:effectLst/>
                          <a:latin typeface="+mj-lt"/>
                        </a:rPr>
                        <a:t>66.4</a:t>
                      </a:r>
                      <a:endParaRPr lang="en-US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0669738"/>
                  </a:ext>
                </a:extLst>
              </a:tr>
              <a:tr h="301110"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100" b="1" u="none" strike="noStrike" dirty="0" smtClean="0">
                          <a:solidFill>
                            <a:schemeClr val="accent4"/>
                          </a:solidFill>
                          <a:effectLst/>
                          <a:latin typeface="+mj-lt"/>
                        </a:rPr>
                        <a:t>TC3 [C]</a:t>
                      </a:r>
                      <a:endParaRPr lang="nb-NO" sz="1100" b="1" i="0" u="none" strike="noStrike" dirty="0">
                        <a:solidFill>
                          <a:schemeClr val="accent4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dirty="0" smtClean="0">
                          <a:effectLst/>
                          <a:latin typeface="+mj-lt"/>
                        </a:rPr>
                        <a:t>67.2</a:t>
                      </a:r>
                      <a:endParaRPr lang="en-US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4723556"/>
                  </a:ext>
                </a:extLst>
              </a:tr>
            </a:tbl>
          </a:graphicData>
        </a:graphic>
      </p:graphicFrame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l="18078" r="11781"/>
          <a:stretch/>
        </p:blipFill>
        <p:spPr>
          <a:xfrm>
            <a:off x="298418" y="2301124"/>
            <a:ext cx="2857265" cy="3231009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1437029" y="4044644"/>
            <a:ext cx="123825" cy="1238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090733" y="4466279"/>
            <a:ext cx="123825" cy="1238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286329" y="3916628"/>
            <a:ext cx="123825" cy="1238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52892" y="3340037"/>
            <a:ext cx="123825" cy="1238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0" t="4017" r="23125" b="648"/>
          <a:stretch/>
        </p:blipFill>
        <p:spPr>
          <a:xfrm rot="5400000">
            <a:off x="6968659" y="2417344"/>
            <a:ext cx="2014698" cy="32462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" t="17625" r="42417" b="13375"/>
          <a:stretch/>
        </p:blipFill>
        <p:spPr>
          <a:xfrm>
            <a:off x="3297564" y="2700263"/>
            <a:ext cx="2913454" cy="26803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4755" y="5429372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TC1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116472" y="5162801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TC 2,3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390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 results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452" y="1190027"/>
            <a:ext cx="8056540" cy="2634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392" y="3696066"/>
            <a:ext cx="7269616" cy="26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4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conditions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9184" y="1191167"/>
            <a:ext cx="7251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2D axis-symmetry simulation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3" y="2044849"/>
            <a:ext cx="6550272" cy="3902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333488" y="3458065"/>
                <a:ext cx="50657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Set thermal conductance and heat flux on each </a:t>
                </a:r>
                <a:br>
                  <a:rPr lang="en-US" dirty="0" smtClean="0"/>
                </a:br>
                <a:r>
                  <a:rPr lang="en-US" b="1" dirty="0" smtClean="0"/>
                  <a:t>6 domain </a:t>
                </a:r>
                <a:r>
                  <a:rPr lang="en-US" dirty="0" smtClean="0"/>
                  <a:t>with </a:t>
                </a:r>
                <a:r>
                  <a:rPr lang="en-US" b="1" dirty="0" smtClean="0"/>
                  <a:t>3 different variables</a:t>
                </a:r>
              </a:p>
              <a:p>
                <a:endParaRPr lang="en-US" b="1" dirty="0"/>
              </a:p>
              <a:p>
                <a:r>
                  <a:rPr lang="en-US" b="1" dirty="0" smtClean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US" b="1" dirty="0" smtClean="0"/>
                  <a:t> (=729) simulations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488" y="3458065"/>
                <a:ext cx="5065776" cy="1200329"/>
              </a:xfrm>
              <a:prstGeom prst="rect">
                <a:avLst/>
              </a:prstGeom>
              <a:blipFill>
                <a:blip r:embed="rId3"/>
                <a:stretch>
                  <a:fillRect l="-963" t="-2538" r="-120" b="-8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214277" y="2208614"/>
            <a:ext cx="568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Matching Heat input + thermal conductance on weight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875520" y="2743200"/>
            <a:ext cx="0" cy="456321"/>
          </a:xfrm>
          <a:prstGeom prst="straightConnector1">
            <a:avLst/>
          </a:prstGeom>
          <a:ln w="571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587752" y="3403201"/>
            <a:ext cx="2898648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08576" y="29327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51615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2nd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65264" y="196961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8416" y="32022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2nd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5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results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4" y="1325881"/>
            <a:ext cx="5982405" cy="35642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1223905"/>
            <a:ext cx="6324727" cy="37682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59682" y="5094087"/>
                <a:ext cx="2907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h1 = 100, 1000, 10000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682" y="5094087"/>
                <a:ext cx="2907792" cy="646331"/>
              </a:xfrm>
              <a:prstGeom prst="rect">
                <a:avLst/>
              </a:prstGeom>
              <a:blipFill>
                <a:blip r:embed="rId4"/>
                <a:stretch>
                  <a:fillRect t="-23585" b="-10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10868" y="5094087"/>
                <a:ext cx="2907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h2 = 100, 1000, 10000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868" y="5094087"/>
                <a:ext cx="2907792" cy="646331"/>
              </a:xfrm>
              <a:prstGeom prst="rect">
                <a:avLst/>
              </a:prstGeom>
              <a:blipFill>
                <a:blip r:embed="rId5"/>
                <a:stretch>
                  <a:fillRect t="-23585" b="-10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955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conditions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27" y="1388779"/>
            <a:ext cx="6013102" cy="35825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609" y="1461931"/>
            <a:ext cx="5890321" cy="35093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9682" y="5094087"/>
                <a:ext cx="2907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h3 = 100, 1000, 10000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682" y="5094087"/>
                <a:ext cx="2907792" cy="646331"/>
              </a:xfrm>
              <a:prstGeom prst="rect">
                <a:avLst/>
              </a:prstGeom>
              <a:blipFill>
                <a:blip r:embed="rId4"/>
                <a:stretch>
                  <a:fillRect t="-23585" b="-10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67162" y="5094086"/>
                <a:ext cx="2907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h4 = 100, 1000, 10000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162" y="5094086"/>
                <a:ext cx="2907792" cy="646331"/>
              </a:xfrm>
              <a:prstGeom prst="rect">
                <a:avLst/>
              </a:prstGeom>
              <a:blipFill>
                <a:blip r:embed="rId5"/>
                <a:stretch>
                  <a:fillRect t="-23585" b="-10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500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93" y="1549683"/>
            <a:ext cx="4943983" cy="32942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617" y="1464384"/>
            <a:ext cx="5071999" cy="3379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59682" y="5176889"/>
                <a:ext cx="2907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ht1 = 2, 5, 10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682" y="5176889"/>
                <a:ext cx="2907792" cy="369332"/>
              </a:xfrm>
              <a:prstGeom prst="rect">
                <a:avLst/>
              </a:prstGeom>
              <a:blipFill>
                <a:blip r:embed="rId4"/>
                <a:stretch>
                  <a:fillRect t="-114754" b="-177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928834" y="5176889"/>
                <a:ext cx="2907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ht2 = 0, 1, 10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834" y="5176889"/>
                <a:ext cx="2907792" cy="369332"/>
              </a:xfrm>
              <a:prstGeom prst="rect">
                <a:avLst/>
              </a:prstGeom>
              <a:blipFill>
                <a:blip r:embed="rId5"/>
                <a:stretch>
                  <a:fillRect t="-114754" b="-177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conditions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4" y="1461931"/>
            <a:ext cx="5926126" cy="35307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625" y="1577449"/>
            <a:ext cx="5538343" cy="3299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32834" y="5176383"/>
                <a:ext cx="2907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h5 = 10000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834" y="5176383"/>
                <a:ext cx="2907792" cy="369332"/>
              </a:xfrm>
              <a:prstGeom prst="rect">
                <a:avLst/>
              </a:prstGeom>
              <a:blipFill>
                <a:blip r:embed="rId4"/>
                <a:stretch>
                  <a:fillRect t="-114754" b="-177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093900" y="5176383"/>
                <a:ext cx="2907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h6 = 500 [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]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900" y="5176383"/>
                <a:ext cx="2907792" cy="369332"/>
              </a:xfrm>
              <a:prstGeom prst="rect">
                <a:avLst/>
              </a:prstGeom>
              <a:blipFill>
                <a:blip r:embed="rId5"/>
                <a:stretch>
                  <a:fillRect t="-114754" b="-177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conditions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477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results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5340" t="3441" r="38491" b="8446"/>
          <a:stretch/>
        </p:blipFill>
        <p:spPr>
          <a:xfrm rot="16200000">
            <a:off x="2176272" y="2871217"/>
            <a:ext cx="1463041" cy="53126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t="31091" r="55299" b="5729"/>
          <a:stretch/>
        </p:blipFill>
        <p:spPr>
          <a:xfrm>
            <a:off x="5564125" y="4636012"/>
            <a:ext cx="3601380" cy="166420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42900" y="5212080"/>
            <a:ext cx="0" cy="1115568"/>
          </a:xfrm>
          <a:prstGeom prst="line">
            <a:avLst/>
          </a:prstGeom>
          <a:ln w="28575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5426966"/>
            <a:ext cx="161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Position = 0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52662" t="14428" r="1985" b="22392"/>
          <a:stretch/>
        </p:blipFill>
        <p:spPr>
          <a:xfrm>
            <a:off x="9277728" y="4651979"/>
            <a:ext cx="3653870" cy="16642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113" y="1143310"/>
            <a:ext cx="5570863" cy="342070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5"/>
          <a:srcRect l="89702" t="6626"/>
          <a:stretch/>
        </p:blipFill>
        <p:spPr>
          <a:xfrm>
            <a:off x="12184698" y="1273878"/>
            <a:ext cx="556469" cy="336213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5"/>
          <a:srcRect l="39481" t="9341" r="44105" b="8158"/>
          <a:stretch/>
        </p:blipFill>
        <p:spPr>
          <a:xfrm rot="16200000">
            <a:off x="8652721" y="497760"/>
            <a:ext cx="1545232" cy="517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28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results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17885" r="58693" b="32043"/>
          <a:stretch/>
        </p:blipFill>
        <p:spPr>
          <a:xfrm>
            <a:off x="517245" y="2487168"/>
            <a:ext cx="3002856" cy="132588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700784" y="2487168"/>
            <a:ext cx="603504" cy="420624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17245" y="1581912"/>
            <a:ext cx="3044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Experiment: 186.7 C</a:t>
            </a:r>
          </a:p>
          <a:p>
            <a:pPr algn="ctr"/>
            <a:r>
              <a:rPr lang="en-US" b="1" dirty="0" smtClean="0"/>
              <a:t>Simulation: 70 ~ 180 C</a:t>
            </a:r>
            <a:endParaRPr lang="en-US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6887501" y="1665600"/>
          <a:ext cx="5430645" cy="24843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1575">
                  <a:extLst>
                    <a:ext uri="{9D8B030D-6E8A-4147-A177-3AD203B41FA5}">
                      <a16:colId xmlns:a16="http://schemas.microsoft.com/office/drawing/2014/main" val="2519265184"/>
                    </a:ext>
                  </a:extLst>
                </a:gridCol>
                <a:gridCol w="1733111">
                  <a:extLst>
                    <a:ext uri="{9D8B030D-6E8A-4147-A177-3AD203B41FA5}">
                      <a16:colId xmlns:a16="http://schemas.microsoft.com/office/drawing/2014/main" val="615461150"/>
                    </a:ext>
                  </a:extLst>
                </a:gridCol>
                <a:gridCol w="1965959">
                  <a:extLst>
                    <a:ext uri="{9D8B030D-6E8A-4147-A177-3AD203B41FA5}">
                      <a16:colId xmlns:a16="http://schemas.microsoft.com/office/drawing/2014/main" val="4033810729"/>
                    </a:ext>
                  </a:extLst>
                </a:gridCol>
              </a:tblGrid>
              <a:tr h="484878"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solidFill>
                          <a:srgbClr val="7030A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Experiment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Simulation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6762947"/>
                  </a:ext>
                </a:extLst>
              </a:tr>
              <a:tr h="4848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smtClean="0">
                          <a:solidFill>
                            <a:srgbClr val="7030A0"/>
                          </a:solidFill>
                          <a:effectLst/>
                          <a:latin typeface="+mj-lt"/>
                        </a:rPr>
                        <a:t>TC0 [C]</a:t>
                      </a:r>
                      <a:endParaRPr lang="en-US" sz="1600" b="1" i="0" u="none" strike="noStrike" dirty="0">
                        <a:solidFill>
                          <a:srgbClr val="7030A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47.4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48~95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3475218"/>
                  </a:ext>
                </a:extLst>
              </a:tr>
              <a:tr h="504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TC1 [C</a:t>
                      </a:r>
                      <a:r>
                        <a:rPr lang="en-US" sz="1600" b="1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]</a:t>
                      </a:r>
                      <a:endParaRPr lang="en-US" sz="16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dirty="0" smtClean="0">
                          <a:effectLst/>
                          <a:latin typeface="+mj-lt"/>
                        </a:rPr>
                        <a:t>74.1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50~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250980"/>
                  </a:ext>
                </a:extLst>
              </a:tr>
              <a:tr h="504876"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b="1" u="none" strike="noStrike" dirty="0" smtClean="0">
                          <a:solidFill>
                            <a:srgbClr val="FFC000"/>
                          </a:solidFill>
                          <a:effectLst/>
                          <a:latin typeface="+mj-lt"/>
                        </a:rPr>
                        <a:t>TC2 [C</a:t>
                      </a:r>
                      <a:r>
                        <a:rPr lang="nb-NO" sz="1600" b="1" u="none" strike="noStrike" dirty="0">
                          <a:solidFill>
                            <a:srgbClr val="FFC000"/>
                          </a:solidFill>
                          <a:effectLst/>
                          <a:latin typeface="+mj-lt"/>
                        </a:rPr>
                        <a:t>]</a:t>
                      </a:r>
                      <a:endParaRPr lang="nb-NO" sz="1600" b="1" i="0" u="none" strike="noStrike" dirty="0">
                        <a:solidFill>
                          <a:srgbClr val="FFC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dirty="0" smtClean="0">
                          <a:effectLst/>
                          <a:latin typeface="+mj-lt"/>
                        </a:rPr>
                        <a:t>66.4</a:t>
                      </a:r>
                      <a:endParaRPr lang="en-US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55~105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0669738"/>
                  </a:ext>
                </a:extLst>
              </a:tr>
              <a:tr h="504876"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600" b="1" u="none" strike="noStrike" dirty="0" smtClean="0">
                          <a:solidFill>
                            <a:schemeClr val="accent4"/>
                          </a:solidFill>
                          <a:effectLst/>
                          <a:latin typeface="+mj-lt"/>
                        </a:rPr>
                        <a:t>TC3 [C]</a:t>
                      </a:r>
                      <a:endParaRPr lang="nb-NO" sz="1600" b="1" i="0" u="none" strike="noStrike" dirty="0">
                        <a:solidFill>
                          <a:schemeClr val="accent4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dirty="0" smtClean="0">
                          <a:effectLst/>
                          <a:latin typeface="+mj-lt"/>
                        </a:rPr>
                        <a:t>67.2</a:t>
                      </a:r>
                      <a:endParaRPr lang="en-US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7513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60~108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4723556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983450" y="1428981"/>
            <a:ext cx="2857265" cy="3231009"/>
            <a:chOff x="3846290" y="2072524"/>
            <a:chExt cx="2857265" cy="3231009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3"/>
            <a:srcRect l="18078" r="11781"/>
            <a:stretch/>
          </p:blipFill>
          <p:spPr>
            <a:xfrm>
              <a:off x="3846290" y="2072524"/>
              <a:ext cx="2857265" cy="3231009"/>
            </a:xfrm>
            <a:prstGeom prst="rect">
              <a:avLst/>
            </a:prstGeom>
          </p:spPr>
        </p:pic>
        <p:sp>
          <p:nvSpPr>
            <p:cNvPr id="21" name="Oval 20"/>
            <p:cNvSpPr/>
            <p:nvPr/>
          </p:nvSpPr>
          <p:spPr>
            <a:xfrm>
              <a:off x="4984901" y="3816044"/>
              <a:ext cx="123825" cy="1238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638605" y="4237679"/>
              <a:ext cx="123825" cy="12382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834201" y="3688028"/>
              <a:ext cx="123825" cy="1238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500764" y="3111437"/>
              <a:ext cx="123825" cy="12382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005321" y="4396261"/>
            <a:ext cx="48361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In every cases,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TC1 &lt; TC2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TC0-TC1 &lt; 5 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27313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match cases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310896" y="1562481"/>
          <a:ext cx="7705402" cy="12820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03532">
                  <a:extLst>
                    <a:ext uri="{9D8B030D-6E8A-4147-A177-3AD203B41FA5}">
                      <a16:colId xmlns:a16="http://schemas.microsoft.com/office/drawing/2014/main" val="3201438300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2284082156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288011720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1880881952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776221642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1856046452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2056616516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297478098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2425089221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1050013811"/>
                    </a:ext>
                  </a:extLst>
                </a:gridCol>
                <a:gridCol w="660187">
                  <a:extLst>
                    <a:ext uri="{9D8B030D-6E8A-4147-A177-3AD203B41FA5}">
                      <a16:colId xmlns:a16="http://schemas.microsoft.com/office/drawing/2014/main" val="1202606186"/>
                    </a:ext>
                  </a:extLst>
                </a:gridCol>
              </a:tblGrid>
              <a:tr h="256413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Shaft</a:t>
                      </a:r>
                      <a:r>
                        <a:rPr lang="en-US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upper parts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Shaft</a:t>
                      </a:r>
                      <a:r>
                        <a:rPr lang="en-US" sz="1200" b="1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lower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81194"/>
                  </a:ext>
                </a:extLst>
              </a:tr>
              <a:tr h="256413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T1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T2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T3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T4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T5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7530554"/>
                  </a:ext>
                </a:extLst>
              </a:tr>
              <a:tr h="256413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1131.5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878.8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785.0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599.8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528.9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 smtClean="0">
                          <a:effectLst/>
                          <a:latin typeface="+mn-lt"/>
                        </a:rPr>
                        <a:t>167.2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49.264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51.784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58.209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63.459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1809569"/>
                  </a:ext>
                </a:extLst>
              </a:tr>
              <a:tr h="256413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Experimental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1125.4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760.9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597.2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568.0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508.1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186.7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47.4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66.4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67.2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79276765"/>
                  </a:ext>
                </a:extLst>
              </a:tr>
              <a:tr h="256413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Difference</a:t>
                      </a:r>
                      <a:r>
                        <a:rPr lang="en-US" sz="1200" b="1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[%]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0.5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13.4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23.9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5.3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3.9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11.7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3.8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43.1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14.1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5.9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890573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8661122" y="1717039"/>
          <a:ext cx="3655507" cy="51282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0882">
                  <a:extLst>
                    <a:ext uri="{9D8B030D-6E8A-4147-A177-3AD203B41FA5}">
                      <a16:colId xmlns:a16="http://schemas.microsoft.com/office/drawing/2014/main" val="725149127"/>
                    </a:ext>
                  </a:extLst>
                </a:gridCol>
                <a:gridCol w="648925">
                  <a:extLst>
                    <a:ext uri="{9D8B030D-6E8A-4147-A177-3AD203B41FA5}">
                      <a16:colId xmlns:a16="http://schemas.microsoft.com/office/drawing/2014/main" val="2888685040"/>
                    </a:ext>
                  </a:extLst>
                </a:gridCol>
                <a:gridCol w="648925">
                  <a:extLst>
                    <a:ext uri="{9D8B030D-6E8A-4147-A177-3AD203B41FA5}">
                      <a16:colId xmlns:a16="http://schemas.microsoft.com/office/drawing/2014/main" val="1219017741"/>
                    </a:ext>
                  </a:extLst>
                </a:gridCol>
                <a:gridCol w="648925">
                  <a:extLst>
                    <a:ext uri="{9D8B030D-6E8A-4147-A177-3AD203B41FA5}">
                      <a16:colId xmlns:a16="http://schemas.microsoft.com/office/drawing/2014/main" val="3608954640"/>
                    </a:ext>
                  </a:extLst>
                </a:gridCol>
                <a:gridCol w="648925">
                  <a:extLst>
                    <a:ext uri="{9D8B030D-6E8A-4147-A177-3AD203B41FA5}">
                      <a16:colId xmlns:a16="http://schemas.microsoft.com/office/drawing/2014/main" val="1194723503"/>
                    </a:ext>
                  </a:extLst>
                </a:gridCol>
                <a:gridCol w="648925">
                  <a:extLst>
                    <a:ext uri="{9D8B030D-6E8A-4147-A177-3AD203B41FA5}">
                      <a16:colId xmlns:a16="http://schemas.microsoft.com/office/drawing/2014/main" val="3947122973"/>
                    </a:ext>
                  </a:extLst>
                </a:gridCol>
              </a:tblGrid>
              <a:tr h="256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h1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h2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effectLst/>
                        </a:rPr>
                        <a:t>h3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effectLst/>
                        </a:rPr>
                        <a:t>h4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ht1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ht2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9861395"/>
                  </a:ext>
                </a:extLst>
              </a:tr>
              <a:tr h="256413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953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3999" y="1315465"/>
            <a:ext cx="263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Best-match variables</a:t>
            </a:r>
            <a:endParaRPr lang="en-US" b="1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8942493" y="2361367"/>
            <a:ext cx="337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h3 &amp; h4 affects only shaft lower temperature (&lt;10 %)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638623" y="3929220"/>
            <a:ext cx="3366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Conclusion: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More detailed analysis would satisfying experimental results (h1,h2 &lt; 100, ht1 &gt;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But, it still can not explain ‘TC1 </a:t>
            </a:r>
            <a:r>
              <a:rPr lang="en-US" dirty="0"/>
              <a:t>&lt; </a:t>
            </a:r>
            <a:r>
              <a:rPr lang="en-US" dirty="0" smtClean="0"/>
              <a:t>TC2’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2" y="3020417"/>
            <a:ext cx="4855464" cy="32352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060" y="3131546"/>
            <a:ext cx="4706239" cy="313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54221"/>
      </p:ext>
    </p:extLst>
  </p:cSld>
  <p:clrMapOvr>
    <a:masterClrMapping/>
  </p:clrMapOvr>
</p:sld>
</file>

<file path=ppt/theme/theme1.xml><?xml version="1.0" encoding="utf-8"?>
<a:theme xmlns:a="http://schemas.openxmlformats.org/drawingml/2006/main" name="2_FRIB3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10_CKG FRIB no-line h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KG FRIB no-line 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KG FRIB no-line h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8">
        <a:dk1>
          <a:srgbClr val="000000"/>
        </a:dk1>
        <a:lt1>
          <a:srgbClr val="FFFFFF"/>
        </a:lt1>
        <a:dk2>
          <a:srgbClr val="1F1DE8"/>
        </a:dk2>
        <a:lt2>
          <a:srgbClr val="007469"/>
        </a:lt2>
        <a:accent1>
          <a:srgbClr val="FC0128"/>
        </a:accent1>
        <a:accent2>
          <a:srgbClr val="CF16CE"/>
        </a:accent2>
        <a:accent3>
          <a:srgbClr val="FFFFFF"/>
        </a:accent3>
        <a:accent4>
          <a:srgbClr val="000000"/>
        </a:accent4>
        <a:accent5>
          <a:srgbClr val="FDAAAC"/>
        </a:accent5>
        <a:accent6>
          <a:srgbClr val="BB13BA"/>
        </a:accent6>
        <a:hlink>
          <a:srgbClr val="F39FD1"/>
        </a:hlink>
        <a:folHlink>
          <a:srgbClr val="7C0F5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RIB-PowerPoint-Template-16x9-v5" id="{386E0BD5-C86C-4D62-9771-31771216E89C}" vid="{4ACF4385-ADC6-4C4F-9B7B-D66EF0FAE7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51A918-08D5-449F-8A17-B243F558068D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rchive_x0020_Date xmlns="31ac3772-10db-466f-87b2-5ca6a813de61" xsi:nil="true"/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FAECBD9524743810300543FD35949" ma:contentTypeVersion="12" ma:contentTypeDescription="Create a new document." ma:contentTypeScope="" ma:versionID="4e1ce8c434ccf00c254609ea64994656">
  <xsd:schema xmlns:xsd="http://www.w3.org/2001/XMLSchema" xmlns:xs="http://www.w3.org/2001/XMLSchema" xmlns:p="http://schemas.microsoft.com/office/2006/metadata/properties" xmlns:ns2="31ac3772-10db-466f-87b2-5ca6a813de61" xmlns:ns3="http://schemas.microsoft.com/sharepoint/v4" xmlns:ns4="eabd35fa-70f7-4707-bb94-f0fb9d38b1ac" targetNamespace="http://schemas.microsoft.com/office/2006/metadata/properties" ma:root="true" ma:fieldsID="898c19f0ea3f647f1e89aefed0092a7b" ns2:_="" ns3:_="" ns4:_="">
    <xsd:import namespace="31ac3772-10db-466f-87b2-5ca6a813de61"/>
    <xsd:import namespace="http://schemas.microsoft.com/sharepoint/v4"/>
    <xsd:import namespace="eabd35fa-70f7-4707-bb94-f0fb9d38b1ac"/>
    <xsd:element name="properties">
      <xsd:complexType>
        <xsd:sequence>
          <xsd:element name="documentManagement">
            <xsd:complexType>
              <xsd:all>
                <xsd:element ref="ns2:Archive_x0020_Date" minOccurs="0"/>
                <xsd:element ref="ns3:IconOverlay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c3772-10db-466f-87b2-5ca6a813de61" elementFormDefault="qualified">
    <xsd:import namespace="http://schemas.microsoft.com/office/2006/documentManagement/types"/>
    <xsd:import namespace="http://schemas.microsoft.com/office/infopath/2007/PartnerControls"/>
    <xsd:element name="Archive_x0020_Date" ma:index="8" nillable="true" ma:displayName="Archive Date" ma:format="DateOnly" ma:internalName="Archive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bd35fa-70f7-4707-bb94-f0fb9d38b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18382-7B1A-46A6-9E5B-B59119FCF067}">
  <ds:schemaRefs>
    <ds:schemaRef ds:uri="http://schemas.microsoft.com/office/2006/documentManagement/types"/>
    <ds:schemaRef ds:uri="http://purl.org/dc/dcmitype/"/>
    <ds:schemaRef ds:uri="http://www.w3.org/XML/1998/namespace"/>
    <ds:schemaRef ds:uri="eabd35fa-70f7-4707-bb94-f0fb9d38b1ac"/>
    <ds:schemaRef ds:uri="http://purl.org/dc/terms/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31ac3772-10db-466f-87b2-5ca6a813de61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D8170BE-7DDA-48D5-AC64-64C484AAB4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ac3772-10db-466f-87b2-5ca6a813de61"/>
    <ds:schemaRef ds:uri="http://schemas.microsoft.com/sharepoint/v4"/>
    <ds:schemaRef ds:uri="eabd35fa-70f7-4707-bb94-f0fb9d38b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04514C-E1EA-4DB1-85FB-832E60D4A4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157888</TotalTime>
  <Words>726</Words>
  <Application>Microsoft Office PowerPoint</Application>
  <PresentationFormat>Custom</PresentationFormat>
  <Paragraphs>204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Lucida Grande</vt:lpstr>
      <vt:lpstr>ＭＳ Ｐゴシック</vt:lpstr>
      <vt:lpstr>ヒラギノ角ゴ Pro W3</vt:lpstr>
      <vt:lpstr>Arial</vt:lpstr>
      <vt:lpstr>Calibri</vt:lpstr>
      <vt:lpstr>Cambria Math</vt:lpstr>
      <vt:lpstr>Helvetica</vt:lpstr>
      <vt:lpstr>Wingdings</vt:lpstr>
      <vt:lpstr>2_FRIB3</vt:lpstr>
      <vt:lpstr>Weekly Progress meeting</vt:lpstr>
      <vt:lpstr>Tasks</vt:lpstr>
      <vt:lpstr>Tasks</vt:lpstr>
      <vt:lpstr>COMSOL results</vt:lpstr>
      <vt:lpstr>ANSYS results (with post)</vt:lpstr>
      <vt:lpstr>ANSYS results (without post)</vt:lpstr>
      <vt:lpstr>Ongoing progress</vt:lpstr>
      <vt:lpstr>Ongoing progress</vt:lpstr>
      <vt:lpstr>Experiment results</vt:lpstr>
      <vt:lpstr>Experiment results</vt:lpstr>
      <vt:lpstr>Simulation conditions</vt:lpstr>
      <vt:lpstr>Simulation results</vt:lpstr>
      <vt:lpstr>Simulation conditions</vt:lpstr>
      <vt:lpstr>Simulation conditions</vt:lpstr>
      <vt:lpstr>Simulation conditions</vt:lpstr>
      <vt:lpstr>Simulation results</vt:lpstr>
      <vt:lpstr>Simulation results</vt:lpstr>
      <vt:lpstr>Best match cases</vt:lpstr>
    </vt:vector>
  </TitlesOfParts>
  <Company>FRIB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FRIB User Facility Overview</dc:title>
  <dc:creator>Lee, Geunhyeong</dc:creator>
  <cp:lastModifiedBy>Lee, Geunhyeong</cp:lastModifiedBy>
  <cp:revision>1877</cp:revision>
  <cp:lastPrinted>2018-07-13T15:20:28Z</cp:lastPrinted>
  <dcterms:created xsi:type="dcterms:W3CDTF">2016-02-09T17:27:26Z</dcterms:created>
  <dcterms:modified xsi:type="dcterms:W3CDTF">2025-01-13T19:44:45Z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0x010100CF5FAECBD9524743810300543FD35949</vt:lpwstr>
  </property>
  <property fmtid="{D5CDD505-2E9C-101B-9397-08002B2CF9AE}" pid="3" name="Order">
    <vt:r8>7708800</vt:r8>
  </property>
</Properties>
</file>