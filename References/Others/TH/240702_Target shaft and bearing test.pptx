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0"/>
  </p:notesMasterIdLst>
  <p:handoutMasterIdLst>
    <p:handoutMasterId r:id="rId11"/>
  </p:handoutMasterIdLst>
  <p:sldIdLst>
    <p:sldId id="745" r:id="rId5"/>
    <p:sldId id="759" r:id="rId6"/>
    <p:sldId id="762" r:id="rId7"/>
    <p:sldId id="760" r:id="rId8"/>
    <p:sldId id="761" r:id="rId9"/>
  </p:sldIdLst>
  <p:sldSz cx="13004800" cy="73152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7F09"/>
    <a:srgbClr val="8AC4E2"/>
    <a:srgbClr val="EFF71F"/>
    <a:srgbClr val="A8D3A8"/>
    <a:srgbClr val="ECB53C"/>
    <a:srgbClr val="DE8066"/>
    <a:srgbClr val="E6E6E6"/>
    <a:srgbClr val="EBB33D"/>
    <a:srgbClr val="EDB839"/>
    <a:srgbClr val="D96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3800" autoAdjust="0"/>
  </p:normalViewPr>
  <p:slideViewPr>
    <p:cSldViewPr snapToGrid="0">
      <p:cViewPr varScale="1">
        <p:scale>
          <a:sx n="106" d="100"/>
          <a:sy n="106" d="100"/>
        </p:scale>
        <p:origin x="120" y="102"/>
      </p:cViewPr>
      <p:guideLst>
        <p:guide orient="horz" pos="2304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13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326ABB-3EEB-47B7-AD7F-CF23ED7FE83C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DADF62D-6416-4B58-9969-1681054BE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666E12AD-0F3F-457A-995A-447FB9AC83D6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DF26B1-DE9A-4EC9-A610-93C778CE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546350" y="876300"/>
            <a:ext cx="4203700" cy="23653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051"/>
          <p:cNvSpPr>
            <a:spLocks noGrp="1"/>
          </p:cNvSpPr>
          <p:nvPr>
            <p:ph type="body" idx="1"/>
          </p:nvPr>
        </p:nvSpPr>
        <p:spPr bwMode="auto">
          <a:xfrm>
            <a:off x="927956" y="3369846"/>
            <a:ext cx="7423623" cy="3191908"/>
          </a:xfrm>
          <a:prstGeom prst="rect">
            <a:avLst/>
          </a:prstGeom>
          <a:noFill/>
        </p:spPr>
        <p:txBody>
          <a:bodyPr/>
          <a:lstStyle/>
          <a:p>
            <a:endParaRPr lang="en-US" dirty="0" smtClean="0"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7545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07417" y="1320800"/>
            <a:ext cx="10652411" cy="4771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2210" tIns="46105" rIns="92210" bIns="46105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2773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167467" y="4343401"/>
            <a:ext cx="8669867" cy="1219200"/>
          </a:xfrm>
        </p:spPr>
        <p:txBody>
          <a:bodyPr/>
          <a:lstStyle>
            <a:lvl1pPr marL="0" indent="0" algn="ctr">
              <a:buNone/>
              <a:defRPr/>
            </a:lvl1pPr>
            <a:lvl2pPr marL="461110" indent="0" algn="ctr">
              <a:buNone/>
              <a:defRPr/>
            </a:lvl2pPr>
            <a:lvl3pPr marL="922217" indent="0" algn="ctr">
              <a:buNone/>
              <a:defRPr/>
            </a:lvl3pPr>
            <a:lvl4pPr marL="1383325" indent="0" algn="ctr">
              <a:buNone/>
              <a:defRPr/>
            </a:lvl4pPr>
            <a:lvl5pPr marL="1844435" indent="0" algn="ctr">
              <a:buNone/>
              <a:defRPr/>
            </a:lvl5pPr>
            <a:lvl6pPr marL="2305543" indent="0" algn="ctr">
              <a:buNone/>
              <a:defRPr/>
            </a:lvl6pPr>
            <a:lvl7pPr marL="2766652" indent="0" algn="ctr">
              <a:buNone/>
              <a:defRPr/>
            </a:lvl7pPr>
            <a:lvl8pPr marL="3227758" indent="0" algn="ctr">
              <a:buNone/>
              <a:defRPr/>
            </a:lvl8pPr>
            <a:lvl9pPr marL="368886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6" y="3357103"/>
            <a:ext cx="12801599" cy="510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6061" tIns="22425" rIns="56061" bIns="22425"/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0" y="6812965"/>
            <a:ext cx="13004800" cy="454149"/>
          </a:xfrm>
          <a:prstGeom prst="rect">
            <a:avLst/>
          </a:prstGeom>
          <a:noFill/>
        </p:spPr>
        <p:txBody>
          <a:bodyPr wrap="square" lIns="92252" tIns="46126" rIns="92252" bIns="46126" rtlCol="0">
            <a:spAutoFit/>
          </a:bodyPr>
          <a:lstStyle/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This material is based upon work supported by the U.S. Department of Energy, Office of Science, Office of Nuclear Physics and used resources of</a:t>
            </a:r>
          </a:p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the</a:t>
            </a:r>
            <a:r>
              <a:rPr lang="en-US" sz="1173" kern="1200" baseline="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 </a:t>
            </a:r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Facility for Rare Isotope Beams (FRIB) Operations, which is a DOE Office of Science User Facility under Award Number DE-SC0023633.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282897" y="442928"/>
            <a:ext cx="3901440" cy="2239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583032"/>
            <a:ext cx="1706880" cy="218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0" y="6018699"/>
            <a:ext cx="3413760" cy="7480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55" y="6019159"/>
            <a:ext cx="2828544" cy="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28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266624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6502401" y="6780213"/>
            <a:ext cx="5418674" cy="388937"/>
          </a:xfrm>
        </p:spPr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frib.msu.edu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3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4551360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5770880"/>
            <a:ext cx="13004800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0" y="6407568"/>
            <a:ext cx="13004800" cy="81280"/>
          </a:xfrm>
          <a:prstGeom prst="rect">
            <a:avLst/>
          </a:prstGeom>
          <a:solidFill>
            <a:srgbClr val="00663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5770880"/>
            <a:ext cx="12895462" cy="623147"/>
          </a:xfrm>
        </p:spPr>
        <p:txBody>
          <a:bodyPr anchor="ctr"/>
          <a:lstStyle>
            <a:lvl1pPr marL="146257" indent="0">
              <a:spcBef>
                <a:spcPts val="0"/>
              </a:spcBef>
              <a:buNone/>
              <a:defRPr b="1" baseline="0"/>
            </a:lvl1pPr>
          </a:lstStyle>
          <a:p>
            <a:pPr lvl="0"/>
            <a:r>
              <a:rPr lang="en-US" dirty="0" smtClean="0"/>
              <a:t>Add takeaway message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785003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4" y="1138240"/>
            <a:ext cx="6290816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605618" y="1143008"/>
            <a:ext cx="6290812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4F88C639-55E7-4D97-AC8D-4B42A6736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54622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6" y="1138246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108376" y="3820168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BCDB990A-6268-4898-A641-7F04AAB15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2674047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8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5" y="1138246"/>
            <a:ext cx="6285653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578538" y="1138246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108388" y="3820168"/>
            <a:ext cx="628565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578538" y="3820168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74887700-F8AD-4E75-9DA6-99EB4D27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449310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4" name="Picture 5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CF988859-7953-4624-98C4-717249B46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131950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151" y="6467682"/>
            <a:ext cx="13004800" cy="877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565309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745056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965237"/>
            <a:ext cx="9753600" cy="177872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BB48-2997-4352-B8C4-DBD3AEB7C3F2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6C6-36C9-46CA-99DF-7FCD28A98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518" y="85256"/>
            <a:ext cx="12789774" cy="5105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6076" tIns="22431" rIns="56076" bIns="22431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18" y="1138240"/>
            <a:ext cx="12789774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888974" y="6780213"/>
            <a:ext cx="6032101" cy="388937"/>
          </a:xfrm>
          <a:prstGeom prst="rect">
            <a:avLst/>
          </a:prstGeom>
        </p:spPr>
        <p:txBody>
          <a:bodyPr lIns="0" tIns="45712" rIns="0" bIns="45712" anchor="b"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921067" y="6780213"/>
            <a:ext cx="1083733" cy="388937"/>
          </a:xfrm>
          <a:prstGeom prst="rect">
            <a:avLst/>
          </a:prstGeom>
        </p:spPr>
        <p:txBody>
          <a:bodyPr vert="horz" wrap="square" lIns="0" tIns="45712" rIns="0" bIns="45712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0000"/>
              </a:lnSpc>
              <a:defRPr sz="1280">
                <a:solidFill>
                  <a:srgbClr val="064308"/>
                </a:solidFill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D30A2C6D-39BC-4576-856C-8743CF76C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7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8756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6pPr>
      <a:lvl7pPr marL="97513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7pPr>
      <a:lvl8pPr marL="1462703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8pPr>
      <a:lvl9pPr marL="1950272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9pPr>
    </p:titleStyle>
    <p:bodyStyle>
      <a:lvl1pPr marL="192214" indent="-192214" algn="l" defTabSz="856955" rtl="0" eaLnBrk="1" fontAlgn="base" hangingPunct="1">
        <a:lnSpc>
          <a:spcPct val="90000"/>
        </a:lnSpc>
        <a:spcBef>
          <a:spcPts val="1286"/>
        </a:spcBef>
        <a:spcAft>
          <a:spcPct val="0"/>
        </a:spcAft>
        <a:buSzPct val="100000"/>
        <a:buFont typeface="Wingdings" pitchFamily="2" charset="2"/>
        <a:buChar char="§"/>
        <a:defRPr sz="2347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marL="387632" indent="-161781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Arial" pitchFamily="34" charset="0"/>
        <a:buChar char="•"/>
        <a:defRPr sz="2133">
          <a:solidFill>
            <a:schemeClr val="tx1"/>
          </a:solidFill>
          <a:latin typeface="Arial" charset="0"/>
          <a:ea typeface="ＭＳ Ｐゴシック" charset="-128"/>
          <a:cs typeface="ＭＳ Ｐゴシック"/>
        </a:defRPr>
      </a:lvl2pPr>
      <a:lvl3pPr marL="631103" indent="-171390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Lucida Grande" charset="0"/>
        <a:buChar char="»"/>
        <a:defRPr>
          <a:solidFill>
            <a:schemeClr val="tx1"/>
          </a:solidFill>
          <a:latin typeface="Arial" charset="0"/>
          <a:ea typeface="ヒラギノ角ゴ Pro W3" pitchFamily="-111" charset="-128"/>
          <a:cs typeface="ヒラギノ角ゴ Pro W3" pitchFamily="-111" charset="-128"/>
        </a:defRPr>
      </a:lvl3pPr>
      <a:lvl4pPr marL="776867" indent="-142559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Arial" pitchFamily="34" charset="0"/>
        <a:buChar char="•"/>
        <a:defRPr sz="1707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4pPr>
      <a:lvl5pPr marL="1069993" indent="-192214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Lucida Grande" charset="0"/>
        <a:buChar char="»"/>
        <a:defRPr sz="1493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5pPr>
      <a:lvl6pPr marL="237181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6pPr>
      <a:lvl7pPr marL="285938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7pPr>
      <a:lvl8pPr marL="334695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8pPr>
      <a:lvl9pPr marL="3834522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9pPr>
    </p:bodyStyle>
    <p:otherStyle>
      <a:defPPr>
        <a:defRPr lang="en-US"/>
      </a:defPPr>
      <a:lvl1pPr marL="0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56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13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270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272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784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5411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297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0545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 smtClean="0">
                <a:latin typeface="Arial" pitchFamily="34" charset="0"/>
                <a:ea typeface="ＭＳ Ｐゴシック"/>
                <a:cs typeface="ＭＳ Ｐゴシック"/>
              </a:rPr>
              <a:t>Geunhyeong Lee</a:t>
            </a:r>
          </a:p>
          <a:p>
            <a:r>
              <a:rPr lang="en-US" sz="2800" dirty="0" smtClean="0">
                <a:latin typeface="Arial" pitchFamily="34" charset="0"/>
                <a:ea typeface="ＭＳ Ｐゴシック"/>
                <a:cs typeface="ＭＳ Ｐゴシック"/>
              </a:rPr>
              <a:t>07/02/2024</a:t>
            </a:r>
            <a:endParaRPr lang="en-US" sz="2800" dirty="0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219" name="Title 5"/>
          <p:cNvSpPr>
            <a:spLocks noGrp="1"/>
          </p:cNvSpPr>
          <p:nvPr>
            <p:ph type="title"/>
          </p:nvPr>
        </p:nvSpPr>
        <p:spPr>
          <a:xfrm>
            <a:off x="101606" y="3358630"/>
            <a:ext cx="12801599" cy="507466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ea typeface="ＭＳ Ｐゴシック"/>
                <a:cs typeface="ＭＳ Ｐゴシック"/>
              </a:rPr>
              <a:t>Target shaft and bearing test</a:t>
            </a:r>
            <a:endParaRPr lang="en-US" dirty="0" smtClean="0">
              <a:latin typeface="Arial" pitchFamily="34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3560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Validation the service temperature of the Inconel shaft</a:t>
            </a:r>
          </a:p>
          <a:p>
            <a:pPr lvl="1"/>
            <a:r>
              <a:rPr lang="en-US" dirty="0" smtClean="0"/>
              <a:t>Inconel service temperature ~ 650 C (Invar ~ 400C)</a:t>
            </a:r>
          </a:p>
          <a:p>
            <a:r>
              <a:rPr lang="en-US" dirty="0" smtClean="0"/>
              <a:t>Validate the service temperature of the bearing</a:t>
            </a:r>
          </a:p>
          <a:p>
            <a:pPr lvl="1"/>
            <a:r>
              <a:rPr lang="en-US" dirty="0" smtClean="0"/>
              <a:t>New bearing service temperature ~ 230 C (Current bearing ~ 150 C)</a:t>
            </a:r>
          </a:p>
          <a:p>
            <a:r>
              <a:rPr lang="en-US" dirty="0" smtClean="0"/>
              <a:t>Understand the thermal behavior of the target by demonstrating a thermal conditions similar to those of the actual system</a:t>
            </a:r>
          </a:p>
          <a:p>
            <a:r>
              <a:rPr lang="en-US" dirty="0" smtClean="0"/>
              <a:t>For the details: N:\songj\2024_target_spindle_offline_test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plans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7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88" y="1851507"/>
            <a:ext cx="9599393" cy="392580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10683089" y="3041964"/>
            <a:ext cx="371192" cy="651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93379" y="2672632"/>
            <a:ext cx="172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Motor, rotation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330859" y="3863833"/>
            <a:ext cx="641288" cy="11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8472" y="3663186"/>
            <a:ext cx="172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Vacuum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9417" y="3814408"/>
            <a:ext cx="127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Coil, heating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177766" y="3916683"/>
            <a:ext cx="606124" cy="1321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209861" y="3947311"/>
            <a:ext cx="1013989" cy="172015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56448" y="5632429"/>
            <a:ext cx="1645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Thermal camera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7501094" y="3956760"/>
            <a:ext cx="962388" cy="161866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78823" y="5575425"/>
            <a:ext cx="1645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Thermal camera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5776112" y="2091350"/>
            <a:ext cx="18106" cy="581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69781" y="1445019"/>
            <a:ext cx="127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Water cooling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400549" y="2091350"/>
            <a:ext cx="751689" cy="130084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41038" y="1665715"/>
            <a:ext cx="16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Thermocouple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5613149" y="2035307"/>
            <a:ext cx="1456728" cy="133258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76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Preparing the components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Base structures (Vacuum chamber, flanges, motor, …)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Water cooling components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Coil development</a:t>
            </a:r>
          </a:p>
          <a:p>
            <a:pPr lvl="1"/>
            <a:r>
              <a:rPr lang="en-US" dirty="0" smtClean="0"/>
              <a:t>Assemble the structures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Assemble the flanges and shaft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Connected the motor to the vacuum chamber </a:t>
            </a:r>
          </a:p>
          <a:p>
            <a:pPr marL="459713" lvl="2" indent="0">
              <a:buNone/>
            </a:pPr>
            <a:r>
              <a:rPr lang="en-US" dirty="0" smtClean="0">
                <a:solidFill>
                  <a:schemeClr val="accent6"/>
                </a:solidFill>
              </a:rPr>
              <a:t>   by </a:t>
            </a:r>
            <a:r>
              <a:rPr lang="en-US" dirty="0">
                <a:solidFill>
                  <a:schemeClr val="accent6"/>
                </a:solidFill>
              </a:rPr>
              <a:t>adjusting the height</a:t>
            </a:r>
          </a:p>
          <a:p>
            <a:pPr lvl="2"/>
            <a:r>
              <a:rPr lang="en-US" dirty="0" smtClean="0"/>
              <a:t>Coil assemble</a:t>
            </a:r>
            <a:endParaRPr lang="en-US" dirty="0"/>
          </a:p>
          <a:p>
            <a:pPr lvl="2"/>
            <a:r>
              <a:rPr lang="en-US" dirty="0" smtClean="0"/>
              <a:t>Water cooling loop system</a:t>
            </a:r>
          </a:p>
          <a:p>
            <a:pPr lvl="2"/>
            <a:r>
              <a:rPr lang="en-US" dirty="0" smtClean="0"/>
              <a:t>Thermal camera and thermocouple</a:t>
            </a:r>
            <a:endParaRPr lang="en-US" dirty="0" smtClean="0">
              <a:solidFill>
                <a:schemeClr val="accent6"/>
              </a:solidFill>
            </a:endParaRPr>
          </a:p>
          <a:p>
            <a:pPr lvl="1"/>
            <a:r>
              <a:rPr lang="en-US" dirty="0" smtClean="0"/>
              <a:t>DAQ system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Verify the rotational speed (~500 rpm)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Motor current, temperature (estimate the friction)</a:t>
            </a:r>
          </a:p>
          <a:p>
            <a:pPr lvl="2"/>
            <a:r>
              <a:rPr lang="en-US" dirty="0" smtClean="0"/>
              <a:t>File save</a:t>
            </a:r>
          </a:p>
          <a:p>
            <a:pPr marL="225851" lvl="1" indent="0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procedure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984" y="1191843"/>
            <a:ext cx="6206478" cy="5159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00105" y="1138240"/>
            <a:ext cx="2688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accent6"/>
                </a:solidFill>
              </a:rPr>
              <a:t>* Color indicate : done</a:t>
            </a:r>
            <a:endParaRPr lang="en-US" b="1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19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Pre-test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Vacuum test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5e-3 </a:t>
            </a:r>
            <a:r>
              <a:rPr lang="en-US" dirty="0" err="1" smtClean="0">
                <a:solidFill>
                  <a:schemeClr val="accent6"/>
                </a:solidFill>
              </a:rPr>
              <a:t>torr</a:t>
            </a:r>
            <a:r>
              <a:rPr lang="en-US" dirty="0" smtClean="0">
                <a:solidFill>
                  <a:schemeClr val="accent6"/>
                </a:solidFill>
              </a:rPr>
              <a:t> for 1 </a:t>
            </a:r>
            <a:r>
              <a:rPr lang="en-US" dirty="0" err="1" smtClean="0">
                <a:solidFill>
                  <a:schemeClr val="accent6"/>
                </a:solidFill>
              </a:rPr>
              <a:t>hr</a:t>
            </a:r>
            <a:r>
              <a:rPr lang="en-US" dirty="0" smtClean="0">
                <a:solidFill>
                  <a:schemeClr val="accent6"/>
                </a:solidFill>
              </a:rPr>
              <a:t> running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Rotating test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Cooling loop test</a:t>
            </a:r>
          </a:p>
          <a:p>
            <a:pPr lvl="2"/>
            <a:r>
              <a:rPr lang="en-US" dirty="0" smtClean="0">
                <a:solidFill>
                  <a:schemeClr val="accent6"/>
                </a:solidFill>
              </a:rPr>
              <a:t>Cooling water loop test with flowmeter</a:t>
            </a:r>
          </a:p>
          <a:p>
            <a:pPr lvl="1"/>
            <a:r>
              <a:rPr lang="en-US" dirty="0" smtClean="0"/>
              <a:t>Calibration</a:t>
            </a:r>
          </a:p>
          <a:p>
            <a:pPr lvl="2"/>
            <a:r>
              <a:rPr lang="en-US" dirty="0" smtClean="0"/>
              <a:t>IR camera temperature calibration</a:t>
            </a:r>
          </a:p>
          <a:p>
            <a:pPr lvl="3"/>
            <a:r>
              <a:rPr lang="en-US" dirty="0" smtClean="0">
                <a:solidFill>
                  <a:schemeClr val="accent6"/>
                </a:solidFill>
              </a:rPr>
              <a:t>Literature study</a:t>
            </a:r>
          </a:p>
          <a:p>
            <a:pPr lvl="3"/>
            <a:r>
              <a:rPr lang="en-US" dirty="0" smtClean="0"/>
              <a:t>Calibration at the system</a:t>
            </a:r>
          </a:p>
          <a:p>
            <a:r>
              <a:rPr lang="en-US" dirty="0" smtClean="0"/>
              <a:t>Simulation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Basic thermal simulation</a:t>
            </a:r>
          </a:p>
          <a:p>
            <a:pPr lvl="1"/>
            <a:r>
              <a:rPr lang="en-US" dirty="0" smtClean="0"/>
              <a:t>Current input of coil</a:t>
            </a:r>
          </a:p>
          <a:p>
            <a:pPr lvl="1"/>
            <a:r>
              <a:rPr lang="en-US" dirty="0" smtClean="0"/>
              <a:t>Cooling behavior according to the flowrates</a:t>
            </a:r>
          </a:p>
          <a:p>
            <a:pPr lvl="1"/>
            <a:r>
              <a:rPr lang="en-US" dirty="0" smtClean="0"/>
              <a:t>Variable changes to know the trend of temperatures</a:t>
            </a:r>
          </a:p>
          <a:p>
            <a:r>
              <a:rPr lang="en-US" dirty="0" smtClean="0"/>
              <a:t>Experiment (Plan</a:t>
            </a:r>
            <a:r>
              <a:rPr lang="en-US" dirty="0"/>
              <a:t>: during the </a:t>
            </a:r>
            <a:r>
              <a:rPr lang="en-US" dirty="0" smtClean="0"/>
              <a:t>July)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procedure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A. Presenter, Monthly Slides, Date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88625" r="1"/>
          <a:stretch/>
        </p:blipFill>
        <p:spPr>
          <a:xfrm>
            <a:off x="12185964" y="1194507"/>
            <a:ext cx="818836" cy="47965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8" t="20916" r="29043" b="8911"/>
          <a:stretch/>
        </p:blipFill>
        <p:spPr>
          <a:xfrm>
            <a:off x="6185044" y="1772517"/>
            <a:ext cx="3061253" cy="31616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1400" r="34370"/>
          <a:stretch/>
        </p:blipFill>
        <p:spPr>
          <a:xfrm>
            <a:off x="9784534" y="1250774"/>
            <a:ext cx="2464050" cy="479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8295"/>
      </p:ext>
    </p:extLst>
  </p:cSld>
  <p:clrMapOvr>
    <a:masterClrMapping/>
  </p:clrMapOvr>
</p:sld>
</file>

<file path=ppt/theme/theme1.xml><?xml version="1.0" encoding="utf-8"?>
<a:theme xmlns:a="http://schemas.openxmlformats.org/drawingml/2006/main" name="2_FRIB3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10_CKG FRIB no-line 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KG FRIB no-line 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KG FRIB no-line 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8">
        <a:dk1>
          <a:srgbClr val="000000"/>
        </a:dk1>
        <a:lt1>
          <a:srgbClr val="FFFFFF"/>
        </a:lt1>
        <a:dk2>
          <a:srgbClr val="1F1DE8"/>
        </a:dk2>
        <a:lt2>
          <a:srgbClr val="007469"/>
        </a:lt2>
        <a:accent1>
          <a:srgbClr val="FC0128"/>
        </a:accent1>
        <a:accent2>
          <a:srgbClr val="CF16CE"/>
        </a:accent2>
        <a:accent3>
          <a:srgbClr val="FFFFFF"/>
        </a:accent3>
        <a:accent4>
          <a:srgbClr val="000000"/>
        </a:accent4>
        <a:accent5>
          <a:srgbClr val="FDAAAC"/>
        </a:accent5>
        <a:accent6>
          <a:srgbClr val="BB13BA"/>
        </a:accent6>
        <a:hlink>
          <a:srgbClr val="F39FD1"/>
        </a:hlink>
        <a:folHlink>
          <a:srgbClr val="7C0F5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RIB-PowerPoint-Template-16x9-v5" id="{386E0BD5-C86C-4D62-9771-31771216E89C}" vid="{4ACF4385-ADC6-4C4F-9B7B-D66EF0FAE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51A918-08D5-449F-8A17-B243F558068D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FAECBD9524743810300543FD35949" ma:contentTypeVersion="12" ma:contentTypeDescription="Create a new document." ma:contentTypeScope="" ma:versionID="4e1ce8c434ccf00c254609ea64994656">
  <xsd:schema xmlns:xsd="http://www.w3.org/2001/XMLSchema" xmlns:xs="http://www.w3.org/2001/XMLSchema" xmlns:p="http://schemas.microsoft.com/office/2006/metadata/properties" xmlns:ns2="31ac3772-10db-466f-87b2-5ca6a813de61" xmlns:ns3="http://schemas.microsoft.com/sharepoint/v4" xmlns:ns4="eabd35fa-70f7-4707-bb94-f0fb9d38b1ac" targetNamespace="http://schemas.microsoft.com/office/2006/metadata/properties" ma:root="true" ma:fieldsID="898c19f0ea3f647f1e89aefed0092a7b" ns2:_="" ns3:_="" ns4:_="">
    <xsd:import namespace="31ac3772-10db-466f-87b2-5ca6a813de61"/>
    <xsd:import namespace="http://schemas.microsoft.com/sharepoint/v4"/>
    <xsd:import namespace="eabd35fa-70f7-4707-bb94-f0fb9d38b1ac"/>
    <xsd:element name="properties">
      <xsd:complexType>
        <xsd:sequence>
          <xsd:element name="documentManagement">
            <xsd:complexType>
              <xsd:all>
                <xsd:element ref="ns2:Archive_x0020_Date" minOccurs="0"/>
                <xsd:element ref="ns3:IconOverlay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c3772-10db-466f-87b2-5ca6a813de61" elementFormDefault="qualified">
    <xsd:import namespace="http://schemas.microsoft.com/office/2006/documentManagement/types"/>
    <xsd:import namespace="http://schemas.microsoft.com/office/infopath/2007/PartnerControls"/>
    <xsd:element name="Archive_x0020_Date" ma:index="8" nillable="true" ma:displayName="Archive Date" ma:format="DateOnly" ma:internalName="Archive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35fa-70f7-4707-bb94-f0fb9d38b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rchive_x0020_Date xmlns="31ac3772-10db-466f-87b2-5ca6a813de61" xsi:nil="true"/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8170BE-7DDA-48D5-AC64-64C484AAB4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c3772-10db-466f-87b2-5ca6a813de61"/>
    <ds:schemaRef ds:uri="http://schemas.microsoft.com/sharepoint/v4"/>
    <ds:schemaRef ds:uri="eabd35fa-70f7-4707-bb94-f0fb9d38b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18382-7B1A-46A6-9E5B-B59119FCF067}">
  <ds:schemaRefs>
    <ds:schemaRef ds:uri="31ac3772-10db-466f-87b2-5ca6a813de61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abd35fa-70f7-4707-bb94-f0fb9d38b1ac"/>
    <ds:schemaRef ds:uri="http://schemas.microsoft.com/sharepoint/v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204514C-E1EA-4DB1-85FB-832E60D4A4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126199</TotalTime>
  <Words>276</Words>
  <Application>Microsoft Office PowerPoint</Application>
  <PresentationFormat>Custom</PresentationFormat>
  <Paragraphs>61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Lucida Grande</vt:lpstr>
      <vt:lpstr>ＭＳ Ｐゴシック</vt:lpstr>
      <vt:lpstr>ヒラギノ角ゴ Pro W3</vt:lpstr>
      <vt:lpstr>Arial</vt:lpstr>
      <vt:lpstr>Calibri</vt:lpstr>
      <vt:lpstr>Helvetica</vt:lpstr>
      <vt:lpstr>Wingdings</vt:lpstr>
      <vt:lpstr>2_FRIB3</vt:lpstr>
      <vt:lpstr>Target shaft and bearing test</vt:lpstr>
      <vt:lpstr>Test plans</vt:lpstr>
      <vt:lpstr>Overview</vt:lpstr>
      <vt:lpstr>Experiment procedure</vt:lpstr>
      <vt:lpstr>Experiment procedure</vt:lpstr>
    </vt:vector>
  </TitlesOfParts>
  <Company>FRIB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FRIB User Facility Overview</dc:title>
  <dc:creator>Lee, Geunhyeong</dc:creator>
  <cp:lastModifiedBy>Lee, Geunhyeong</cp:lastModifiedBy>
  <cp:revision>1704</cp:revision>
  <cp:lastPrinted>2018-07-13T15:20:28Z</cp:lastPrinted>
  <dcterms:created xsi:type="dcterms:W3CDTF">2016-02-09T17:27:26Z</dcterms:created>
  <dcterms:modified xsi:type="dcterms:W3CDTF">2024-07-02T14:09:49Z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0x010100CF5FAECBD9524743810300543FD35949</vt:lpwstr>
  </property>
  <property fmtid="{D5CDD505-2E9C-101B-9397-08002B2CF9AE}" pid="3" name="Order">
    <vt:r8>7708800</vt:r8>
  </property>
</Properties>
</file>