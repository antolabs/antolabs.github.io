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4"/>
  </p:sldMasterIdLst>
  <p:notesMasterIdLst>
    <p:notesMasterId r:id="rId14"/>
  </p:notesMasterIdLst>
  <p:handoutMasterIdLst>
    <p:handoutMasterId r:id="rId15"/>
  </p:handoutMasterIdLst>
  <p:sldIdLst>
    <p:sldId id="702" r:id="rId5"/>
    <p:sldId id="704" r:id="rId6"/>
    <p:sldId id="709" r:id="rId7"/>
    <p:sldId id="711" r:id="rId8"/>
    <p:sldId id="714" r:id="rId9"/>
    <p:sldId id="715" r:id="rId10"/>
    <p:sldId id="716" r:id="rId11"/>
    <p:sldId id="717" r:id="rId12"/>
    <p:sldId id="718" r:id="rId13"/>
  </p:sldIdLst>
  <p:sldSz cx="13004800" cy="73152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40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C4E2"/>
    <a:srgbClr val="EFF71F"/>
    <a:srgbClr val="A8D3A8"/>
    <a:srgbClr val="ECB53C"/>
    <a:srgbClr val="DE8066"/>
    <a:srgbClr val="E6E6E6"/>
    <a:srgbClr val="EBB33D"/>
    <a:srgbClr val="EDB839"/>
    <a:srgbClr val="D96C76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3800" autoAdjust="0"/>
  </p:normalViewPr>
  <p:slideViewPr>
    <p:cSldViewPr snapToGrid="0">
      <p:cViewPr varScale="1">
        <p:scale>
          <a:sx n="106" d="100"/>
          <a:sy n="106" d="100"/>
        </p:scale>
        <p:origin x="90" y="102"/>
      </p:cViewPr>
      <p:guideLst>
        <p:guide orient="horz" pos="2304"/>
        <p:guide pos="40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0" d="100"/>
          <a:sy n="90" d="100"/>
        </p:scale>
        <p:origin x="213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8326ABB-3EEB-47B7-AD7F-CF23ED7FE83C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DADF62D-6416-4B58-9969-1681054BE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0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0" tIns="46586" rIns="93170" bIns="46586" rtlCol="0"/>
          <a:lstStyle>
            <a:lvl1pPr algn="r">
              <a:defRPr sz="1200"/>
            </a:lvl1pPr>
          </a:lstStyle>
          <a:p>
            <a:fld id="{666E12AD-0F3F-457A-995A-447FB9AC83D6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0" tIns="46586" rIns="93170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0" tIns="46586" rIns="93170" bIns="4658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0" tIns="46586" rIns="93170" bIns="46586" rtlCol="0" anchor="b"/>
          <a:lstStyle>
            <a:lvl1pPr algn="r">
              <a:defRPr sz="1200"/>
            </a:lvl1pPr>
          </a:lstStyle>
          <a:p>
            <a:fld id="{1FDF26B1-DE9A-4EC9-A610-93C778CE03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07417" y="1320800"/>
            <a:ext cx="10652411" cy="47719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2210" tIns="46105" rIns="92210" bIns="46105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2773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167467" y="4343401"/>
            <a:ext cx="8669867" cy="1219200"/>
          </a:xfrm>
        </p:spPr>
        <p:txBody>
          <a:bodyPr/>
          <a:lstStyle>
            <a:lvl1pPr marL="0" indent="0" algn="ctr">
              <a:buNone/>
              <a:defRPr/>
            </a:lvl1pPr>
            <a:lvl2pPr marL="461110" indent="0" algn="ctr">
              <a:buNone/>
              <a:defRPr/>
            </a:lvl2pPr>
            <a:lvl3pPr marL="922217" indent="0" algn="ctr">
              <a:buNone/>
              <a:defRPr/>
            </a:lvl3pPr>
            <a:lvl4pPr marL="1383325" indent="0" algn="ctr">
              <a:buNone/>
              <a:defRPr/>
            </a:lvl4pPr>
            <a:lvl5pPr marL="1844435" indent="0" algn="ctr">
              <a:buNone/>
              <a:defRPr/>
            </a:lvl5pPr>
            <a:lvl6pPr marL="2305543" indent="0" algn="ctr">
              <a:buNone/>
              <a:defRPr/>
            </a:lvl6pPr>
            <a:lvl7pPr marL="2766652" indent="0" algn="ctr">
              <a:buNone/>
              <a:defRPr/>
            </a:lvl7pPr>
            <a:lvl8pPr marL="3227758" indent="0" algn="ctr">
              <a:buNone/>
              <a:defRPr/>
            </a:lvl8pPr>
            <a:lvl9pPr marL="368886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6" y="3357103"/>
            <a:ext cx="12801599" cy="51051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56061" tIns="22425" rIns="56061" bIns="22425"/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0" y="6812965"/>
            <a:ext cx="13004800" cy="454149"/>
          </a:xfrm>
          <a:prstGeom prst="rect">
            <a:avLst/>
          </a:prstGeom>
          <a:noFill/>
        </p:spPr>
        <p:txBody>
          <a:bodyPr wrap="square" lIns="92252" tIns="46126" rIns="92252" bIns="46126" rtlCol="0">
            <a:spAutoFit/>
          </a:bodyPr>
          <a:lstStyle/>
          <a:p>
            <a:pPr algn="ctr"/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This material is based upon work supported by the U.S. Department of Energy, Office of Science, Office of Nuclear Physics and used resources of</a:t>
            </a:r>
          </a:p>
          <a:p>
            <a:pPr algn="ctr"/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the</a:t>
            </a:r>
            <a:r>
              <a:rPr lang="en-US" sz="1173" kern="1200" baseline="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 </a:t>
            </a:r>
            <a:r>
              <a:rPr lang="en-US" sz="1173" kern="1200" dirty="0" smtClean="0">
                <a:solidFill>
                  <a:schemeClr val="tx1"/>
                </a:solidFill>
                <a:latin typeface="+mn-lt"/>
                <a:ea typeface="ヒラギノ角ゴ Pro W3"/>
                <a:cs typeface="ヒラギノ角ゴ Pro W3"/>
              </a:rPr>
              <a:t>Facility for Rare Isotope Beams (FRIB) Operations, which is a DOE Office of Science User Facility under Award Number DE-SC0023633.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4282897" y="442928"/>
            <a:ext cx="3901440" cy="223994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583032"/>
            <a:ext cx="1706880" cy="2180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120" y="6018699"/>
            <a:ext cx="3413760" cy="74807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355" y="6019159"/>
            <a:ext cx="2828544" cy="6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286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266624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6502401" y="6780213"/>
            <a:ext cx="5418674" cy="388937"/>
          </a:xfrm>
        </p:spPr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+mn-cs"/>
              </a:rPr>
              <a:t>frib.msu.edu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33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4551360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80"/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5770880"/>
            <a:ext cx="13004800" cy="73152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0" y="6407568"/>
            <a:ext cx="13004800" cy="81280"/>
          </a:xfrm>
          <a:prstGeom prst="rect">
            <a:avLst/>
          </a:prstGeom>
          <a:solidFill>
            <a:srgbClr val="006633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7492" tIns="48747" rIns="97492" bIns="48747" anchor="ctr"/>
          <a:lstStyle/>
          <a:p>
            <a:endParaRPr lang="en-US" sz="1920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5770880"/>
            <a:ext cx="12895462" cy="623147"/>
          </a:xfrm>
        </p:spPr>
        <p:txBody>
          <a:bodyPr anchor="ctr"/>
          <a:lstStyle>
            <a:lvl1pPr marL="146257" indent="0">
              <a:spcBef>
                <a:spcPts val="0"/>
              </a:spcBef>
              <a:buNone/>
              <a:defRPr b="1" baseline="0"/>
            </a:lvl1pPr>
          </a:lstStyle>
          <a:p>
            <a:pPr lvl="0"/>
            <a:r>
              <a:rPr lang="en-US" dirty="0" smtClean="0"/>
              <a:t>Add takeaway message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7850031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4" y="1138240"/>
            <a:ext cx="6290816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6605618" y="1143008"/>
            <a:ext cx="6290812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4F88C639-55E7-4D97-AC8D-4B42A67367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54622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-17151" y="6467682"/>
            <a:ext cx="13021952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6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6" y="1138246"/>
            <a:ext cx="12788059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/>
          </p:nvPr>
        </p:nvSpPr>
        <p:spPr>
          <a:xfrm>
            <a:off x="108376" y="3820168"/>
            <a:ext cx="12788059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BCDB990A-6268-4898-A641-7F04AAB15E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2674047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r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8" name="Picture 4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0" y="304808"/>
            <a:ext cx="12788050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5" y="1138246"/>
            <a:ext cx="6285653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1"/>
          </p:nvPr>
        </p:nvSpPr>
        <p:spPr>
          <a:xfrm>
            <a:off x="6578538" y="1138246"/>
            <a:ext cx="631790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108388" y="3820168"/>
            <a:ext cx="628565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6578538" y="3820168"/>
            <a:ext cx="6317902" cy="259556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74887700-F8AD-4E75-9DA6-99EB4D2760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449310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4" name="Picture 5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CF988859-7953-4624-98C4-717249B46A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131950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clea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FRIB_ppt_top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4" y="304808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17151" y="6467682"/>
            <a:ext cx="13004800" cy="8778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</p:spTree>
    <p:extLst>
      <p:ext uri="{BB962C8B-B14F-4D97-AF65-F5344CB8AC3E}">
        <p14:creationId xmlns:p14="http://schemas.microsoft.com/office/powerpoint/2010/main" val="565309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-17152" y="6467682"/>
            <a:ext cx="13021951" cy="877824"/>
          </a:xfrm>
          <a:prstGeom prst="rect">
            <a:avLst/>
          </a:prstGeom>
          <a:solidFill>
            <a:srgbClr val="E7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2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24" y="6467682"/>
            <a:ext cx="662853" cy="780288"/>
          </a:xfrm>
          <a:prstGeom prst="rect">
            <a:avLst/>
          </a:prstGeom>
        </p:spPr>
      </p:pic>
      <p:pic>
        <p:nvPicPr>
          <p:cNvPr id="5" name="Picture 7" descr="FRIB_ppt_top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"/>
            <a:ext cx="130048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952575" y="1408117"/>
            <a:ext cx="11185677" cy="364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 eaLnBrk="0" hangingPunct="0">
              <a:lnSpc>
                <a:spcPct val="90000"/>
              </a:lnSpc>
              <a:defRPr/>
            </a:pPr>
            <a:endParaRPr lang="en-US" sz="1920" dirty="0">
              <a:latin typeface="Helvetica" pitchFamily="-107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853021" y="3209933"/>
            <a:ext cx="13004800" cy="39388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107763" dir="2700000" algn="ctr" rotWithShape="0">
              <a:schemeClr val="folHlink">
                <a:alpha val="74998"/>
              </a:schemeClr>
            </a:outerShdw>
          </a:effectLst>
        </p:spPr>
        <p:txBody>
          <a:bodyPr lIns="97466" tIns="48733" rIns="97466" bIns="48733">
            <a:spAutoFit/>
          </a:bodyPr>
          <a:lstStyle/>
          <a:p>
            <a:pPr defTabSz="487525">
              <a:defRPr/>
            </a:pPr>
            <a:endParaRPr lang="en-US" sz="1920" dirty="0">
              <a:latin typeface="Arial" charset="0"/>
              <a:ea typeface="ヒラギノ角ゴ Pro W3" pitchFamily="-107" charset="-128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" y="1138240"/>
            <a:ext cx="12787089" cy="5362575"/>
          </a:xfrm>
        </p:spPr>
        <p:txBody>
          <a:bodyPr/>
          <a:lstStyle>
            <a:lvl3pPr>
              <a:defRPr sz="1920"/>
            </a:lvl3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08374" y="308626"/>
            <a:ext cx="12788053" cy="5105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, Slide </a:t>
            </a:r>
            <a:fld id="{35AD4620-7552-4207-8973-898801ED21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894081" y="6501697"/>
            <a:ext cx="5852159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87"/>
              </a:lnSpc>
            </a:pPr>
            <a:r>
              <a:rPr lang="en-US" sz="1280" b="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Facility for Rare Isotope Beams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U.S. Department of Energy Office of Science | Michigan State University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640 South Shaw Lane • East Lansing, MI 48824, USA</a:t>
            </a:r>
          </a:p>
          <a:p>
            <a:pPr>
              <a:lnSpc>
                <a:spcPts val="1387"/>
              </a:lnSpc>
            </a:pPr>
            <a:r>
              <a:rPr lang="en-US" sz="1280" kern="1200" dirty="0" smtClean="0">
                <a:solidFill>
                  <a:schemeClr val="tx1"/>
                </a:solidFill>
                <a:latin typeface="Arial" pitchFamily="34" charset="0"/>
                <a:ea typeface="ヒラギノ角ゴ Pro W3" charset="-128"/>
                <a:cs typeface="ヒラギノ角ゴ Pro W3"/>
              </a:rPr>
              <a:t>frib.msu.edu</a:t>
            </a:r>
          </a:p>
        </p:txBody>
      </p:sp>
    </p:spTree>
    <p:extLst>
      <p:ext uri="{BB962C8B-B14F-4D97-AF65-F5344CB8AC3E}">
        <p14:creationId xmlns:p14="http://schemas.microsoft.com/office/powerpoint/2010/main" val="3745056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1965237"/>
            <a:ext cx="9753600" cy="1778723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3842174"/>
            <a:ext cx="9753600" cy="1766146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BB48-2997-4352-B8C4-DBD3AEB7C3F2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2B6C6-36C9-46CA-99DF-7FCD28A98B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61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518" y="85256"/>
            <a:ext cx="12789774" cy="5105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6076" tIns="22431" rIns="56076" bIns="22431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18" y="1138240"/>
            <a:ext cx="12789774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888974" y="6780213"/>
            <a:ext cx="6032101" cy="388937"/>
          </a:xfrm>
          <a:prstGeom prst="rect">
            <a:avLst/>
          </a:prstGeom>
        </p:spPr>
        <p:txBody>
          <a:bodyPr lIns="0" tIns="45712" rIns="0" bIns="45712" anchor="b"/>
          <a:lstStyle>
            <a:lvl1pPr algn="r" eaLnBrk="0" hangingPunct="0">
              <a:lnSpc>
                <a:spcPct val="90000"/>
              </a:lnSpc>
              <a:defRPr sz="1280" smtClean="0">
                <a:solidFill>
                  <a:srgbClr val="064308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A. Presenter, Monthly Slides, Date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921067" y="6780213"/>
            <a:ext cx="1083733" cy="388937"/>
          </a:xfrm>
          <a:prstGeom prst="rect">
            <a:avLst/>
          </a:prstGeom>
        </p:spPr>
        <p:txBody>
          <a:bodyPr vert="horz" wrap="square" lIns="0" tIns="45712" rIns="0" bIns="45712" numCol="1" anchor="b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90000"/>
              </a:lnSpc>
              <a:defRPr sz="1280">
                <a:solidFill>
                  <a:srgbClr val="064308"/>
                </a:solidFill>
                <a:ea typeface="ヒラギノ角ゴ Pro W3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 smtClean="0"/>
              <a:t>, Slide </a:t>
            </a:r>
            <a:fld id="{D30A2C6D-39BC-4576-856C-8743CF76CCF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7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2pPr>
      <a:lvl3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3pPr>
      <a:lvl4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4pPr>
      <a:lvl5pPr algn="ctr" defTabSz="856955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5pPr>
      <a:lvl6pPr marL="48756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6pPr>
      <a:lvl7pPr marL="975137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7pPr>
      <a:lvl8pPr marL="1462703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8pPr>
      <a:lvl9pPr marL="1950272" algn="ctr" defTabSz="861710" rtl="0" eaLnBrk="1" fontAlgn="base" hangingPunct="1">
        <a:lnSpc>
          <a:spcPct val="88000"/>
        </a:lnSpc>
        <a:spcBef>
          <a:spcPct val="0"/>
        </a:spcBef>
        <a:spcAft>
          <a:spcPct val="0"/>
        </a:spcAft>
        <a:defRPr sz="3413" b="1">
          <a:solidFill>
            <a:srgbClr val="064308"/>
          </a:solidFill>
          <a:latin typeface="Arial" charset="0"/>
          <a:ea typeface="Arial" charset="0"/>
          <a:cs typeface="Arial" charset="0"/>
        </a:defRPr>
      </a:lvl9pPr>
    </p:titleStyle>
    <p:bodyStyle>
      <a:lvl1pPr marL="192214" indent="-192214" algn="l" defTabSz="856955" rtl="0" eaLnBrk="1" fontAlgn="base" hangingPunct="1">
        <a:lnSpc>
          <a:spcPct val="90000"/>
        </a:lnSpc>
        <a:spcBef>
          <a:spcPts val="1286"/>
        </a:spcBef>
        <a:spcAft>
          <a:spcPct val="0"/>
        </a:spcAft>
        <a:buSzPct val="100000"/>
        <a:buFont typeface="Wingdings" pitchFamily="2" charset="2"/>
        <a:buChar char="§"/>
        <a:defRPr sz="2347">
          <a:solidFill>
            <a:srgbClr val="064308"/>
          </a:solidFill>
          <a:latin typeface="Arial" charset="0"/>
          <a:ea typeface="ＭＳ Ｐゴシック" pitchFamily="-65" charset="-128"/>
          <a:cs typeface="ＭＳ Ｐゴシック" pitchFamily="-65" charset="-128"/>
        </a:defRPr>
      </a:lvl1pPr>
      <a:lvl2pPr marL="387632" indent="-161781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Arial" pitchFamily="34" charset="0"/>
        <a:buChar char="•"/>
        <a:defRPr sz="2133">
          <a:solidFill>
            <a:schemeClr val="tx1"/>
          </a:solidFill>
          <a:latin typeface="Arial" charset="0"/>
          <a:ea typeface="ＭＳ Ｐゴシック" charset="-128"/>
          <a:cs typeface="ＭＳ Ｐゴシック"/>
        </a:defRPr>
      </a:lvl2pPr>
      <a:lvl3pPr marL="631103" indent="-171390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SzPct val="100000"/>
        <a:buFont typeface="Lucida Grande" charset="0"/>
        <a:buChar char="»"/>
        <a:defRPr>
          <a:solidFill>
            <a:schemeClr val="tx1"/>
          </a:solidFill>
          <a:latin typeface="Arial" charset="0"/>
          <a:ea typeface="ヒラギノ角ゴ Pro W3" pitchFamily="-111" charset="-128"/>
          <a:cs typeface="ヒラギノ角ゴ Pro W3" pitchFamily="-111" charset="-128"/>
        </a:defRPr>
      </a:lvl3pPr>
      <a:lvl4pPr marL="776867" indent="-142559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Arial" pitchFamily="34" charset="0"/>
        <a:buChar char="•"/>
        <a:defRPr sz="1707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4pPr>
      <a:lvl5pPr marL="1069993" indent="-192214" algn="l" defTabSz="856955" rtl="0" eaLnBrk="1" fontAlgn="base" hangingPunct="1">
        <a:lnSpc>
          <a:spcPct val="90000"/>
        </a:lnSpc>
        <a:spcBef>
          <a:spcPts val="214"/>
        </a:spcBef>
        <a:spcAft>
          <a:spcPct val="0"/>
        </a:spcAft>
        <a:buClr>
          <a:srgbClr val="999999"/>
        </a:buClr>
        <a:buSzPct val="100000"/>
        <a:buFont typeface="Lucida Grande" charset="0"/>
        <a:buChar char="»"/>
        <a:defRPr sz="1493">
          <a:solidFill>
            <a:schemeClr val="tx1"/>
          </a:solidFill>
          <a:latin typeface="+mn-lt"/>
          <a:ea typeface="ヒラギノ角ゴ Pro W3" pitchFamily="-111" charset="-128"/>
          <a:cs typeface="ヒラギノ角ゴ Pro W3"/>
        </a:defRPr>
      </a:lvl5pPr>
      <a:lvl6pPr marL="237181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6pPr>
      <a:lvl7pPr marL="285938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7pPr>
      <a:lvl8pPr marL="3346955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8pPr>
      <a:lvl9pPr marL="3834522" indent="-160830" algn="l" defTabSz="861710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SzPct val="100000"/>
        <a:buChar char="–"/>
        <a:defRPr sz="1387">
          <a:solidFill>
            <a:schemeClr val="tx1"/>
          </a:solidFill>
          <a:latin typeface="Helvetica" charset="0"/>
          <a:ea typeface="+mn-ea"/>
          <a:cs typeface="+mn-cs"/>
        </a:defRPr>
      </a:lvl9pPr>
    </p:bodyStyle>
    <p:otherStyle>
      <a:defPPr>
        <a:defRPr lang="en-US"/>
      </a:defPPr>
      <a:lvl1pPr marL="0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56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13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270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272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7843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5411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2977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0545" algn="l" defTabSz="975137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Graphite rotating beam dump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7840" t="8452" r="13486" b="12606"/>
          <a:stretch/>
        </p:blipFill>
        <p:spPr>
          <a:xfrm>
            <a:off x="741633" y="3327401"/>
            <a:ext cx="4245430" cy="3149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69904" y="1041130"/>
                <a:ext cx="738008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Rotation speed: 500 </a:t>
                </a:r>
                <a:r>
                  <a:rPr lang="en-US" sz="2000" dirty="0" smtClean="0"/>
                  <a:t>Rpm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 smtClean="0"/>
                  <a:t>Thermal conductivity = 89 [W/(m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000" dirty="0" smtClean="0"/>
                  <a:t>K)] </a:t>
                </a:r>
                <a:endParaRPr lang="en-US" sz="2000" dirty="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 smtClean="0"/>
                  <a:t>Emissivity = 0.85 (from experiment)</a:t>
                </a: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2000" dirty="0" smtClean="0"/>
                  <a:t>Heat exchanger : Copper OFE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4" y="1041130"/>
                <a:ext cx="7380083" cy="1938992"/>
              </a:xfrm>
              <a:prstGeom prst="rect">
                <a:avLst/>
              </a:prstGeom>
              <a:blipFill>
                <a:blip r:embed="rId3"/>
                <a:stretch>
                  <a:fillRect l="-743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>
            <a:off x="840304" y="3313800"/>
            <a:ext cx="4058267" cy="3589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62362" y="2971571"/>
            <a:ext cx="1327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420 mm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830973" y="3230932"/>
            <a:ext cx="0" cy="2220113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890892" y="3172408"/>
            <a:ext cx="26341" cy="230856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938153" y="4331978"/>
            <a:ext cx="1808275" cy="24641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18807" y="4354124"/>
            <a:ext cx="1327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200 mm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118976" y="5001208"/>
            <a:ext cx="0" cy="1129524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7162" y="5608608"/>
            <a:ext cx="1327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140 mm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4"/>
          <a:srcRect l="6435" t="23958" r="6794" b="24791"/>
          <a:stretch/>
        </p:blipFill>
        <p:spPr>
          <a:xfrm>
            <a:off x="6406567" y="3833846"/>
            <a:ext cx="5141167" cy="1959428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 flipV="1">
            <a:off x="2733719" y="6005932"/>
            <a:ext cx="0" cy="4704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83383" y="6005932"/>
            <a:ext cx="75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Heat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6502400" y="4620491"/>
            <a:ext cx="4740988" cy="41928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872894" y="4279677"/>
            <a:ext cx="1327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400 mm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>
            <a:off x="11243388" y="4121150"/>
            <a:ext cx="51363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11243388" y="4235450"/>
            <a:ext cx="51363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1607800" y="3833846"/>
            <a:ext cx="0" cy="287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11614150" y="4248151"/>
            <a:ext cx="0" cy="26523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674217" y="3984792"/>
            <a:ext cx="9926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10 mm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53" name="Straight Connector 52"/>
          <p:cNvCxnSpPr/>
          <p:nvPr/>
        </p:nvCxnSpPr>
        <p:spPr>
          <a:xfrm>
            <a:off x="11379200" y="5534776"/>
            <a:ext cx="39052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1379200" y="5649076"/>
            <a:ext cx="390525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11620500" y="5247472"/>
            <a:ext cx="0" cy="28730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11626850" y="5661777"/>
            <a:ext cx="0" cy="26523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686917" y="5398418"/>
            <a:ext cx="9926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10 mm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 flipV="1">
            <a:off x="6400800" y="4233493"/>
            <a:ext cx="4551" cy="1191947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397886" y="4644800"/>
            <a:ext cx="1327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100 mm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6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Conditions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2"/>
          <a:srcRect l="17840" t="8452" r="13486" b="12606"/>
          <a:stretch/>
        </p:blipFill>
        <p:spPr>
          <a:xfrm>
            <a:off x="1191984" y="1877716"/>
            <a:ext cx="5005615" cy="3712874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 flipV="1">
            <a:off x="3541439" y="5003850"/>
            <a:ext cx="0" cy="9560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38300" y="5405101"/>
            <a:ext cx="1866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FF0000"/>
                </a:solidFill>
              </a:rPr>
              <a:t>Heat Deposited (40 kW)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38946" y="1179759"/>
            <a:ext cx="7380083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smtClean="0"/>
              <a:t>All surface : Radiation heat transfer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20316" t="19413" r="21228" b="24225"/>
          <a:stretch/>
        </p:blipFill>
        <p:spPr>
          <a:xfrm>
            <a:off x="7200987" y="2190998"/>
            <a:ext cx="5289550" cy="32908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126228" y="5368618"/>
                <a:ext cx="396417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 smtClean="0"/>
                  <a:t>Convection (h = 500 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 smtClean="0"/>
                  <a:t>])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228" y="5368618"/>
                <a:ext cx="3964171" cy="553998"/>
              </a:xfrm>
              <a:prstGeom prst="rect">
                <a:avLst/>
              </a:prstGeom>
              <a:blipFill>
                <a:blip r:embed="rId4"/>
                <a:stretch>
                  <a:fillRect l="-1538"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50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/>
              <p:cNvSpPr>
                <a:spLocks noGrp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</p:spPr>
            <p:txBody>
              <a:bodyPr/>
              <a:lstStyle/>
              <a:p>
                <a:r>
                  <a:rPr lang="en-US" dirty="0" smtClean="0"/>
                  <a:t>Temperature distribution results 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600" dirty="0"/>
                  <a:t> = </a:t>
                </a:r>
                <a:r>
                  <a:rPr lang="en-US" sz="3600" dirty="0" smtClean="0"/>
                  <a:t>0.1)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  <a:blipFill>
                <a:blip r:embed="rId2"/>
                <a:stretch>
                  <a:fillRect t="-34483" b="-47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18191" y="2883495"/>
                <a:ext cx="4470214" cy="1843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Graphite Max T : 16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02 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000" dirty="0" smtClean="0"/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Heat exchanger max T : 170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000" dirty="0"/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191" y="2883495"/>
                <a:ext cx="4470214" cy="1843518"/>
              </a:xfrm>
              <a:prstGeom prst="rect">
                <a:avLst/>
              </a:prstGeom>
              <a:blipFill>
                <a:blip r:embed="rId3"/>
                <a:stretch>
                  <a:fillRect l="-1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16" y="1756372"/>
            <a:ext cx="6573397" cy="437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4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/>
              <p:cNvSpPr>
                <a:spLocks noGrp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</p:spPr>
            <p:txBody>
              <a:bodyPr/>
              <a:lstStyle/>
              <a:p>
                <a:r>
                  <a:rPr lang="en-US" dirty="0"/>
                  <a:t>Temperature distribution results 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600" dirty="0"/>
                  <a:t> = 0.1)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  <a:blipFill>
                <a:blip r:embed="rId2"/>
                <a:stretch>
                  <a:fillRect t="-34483" b="-47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096" y="1858614"/>
            <a:ext cx="6102194" cy="40659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4" y="1673772"/>
            <a:ext cx="6115773" cy="407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7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/>
              <p:cNvSpPr>
                <a:spLocks noGrp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</p:spPr>
            <p:txBody>
              <a:bodyPr/>
              <a:lstStyle/>
              <a:p>
                <a:r>
                  <a:rPr lang="en-US" dirty="0" smtClean="0"/>
                  <a:t>Thermal stress results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600" dirty="0"/>
                  <a:t> = 0.1)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  <a:blipFill>
                <a:blip r:embed="rId2"/>
                <a:stretch>
                  <a:fillRect t="-34483" b="-47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3" y="1583745"/>
            <a:ext cx="6668035" cy="4443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73682" y="1462440"/>
            <a:ext cx="4470214" cy="612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Max thermal stress: 10.7 MPa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154" y="2706997"/>
            <a:ext cx="4787270" cy="316111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487299" y="5954832"/>
            <a:ext cx="3732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Tensile strength from Graphite </a:t>
            </a:r>
            <a:r>
              <a:rPr lang="en-US" dirty="0"/>
              <a:t>JTA</a:t>
            </a:r>
          </a:p>
        </p:txBody>
      </p:sp>
    </p:spTree>
    <p:extLst>
      <p:ext uri="{BB962C8B-B14F-4D97-AF65-F5344CB8AC3E}">
        <p14:creationId xmlns:p14="http://schemas.microsoft.com/office/powerpoint/2010/main" val="734699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/>
              <p:cNvSpPr>
                <a:spLocks noGrp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</p:spPr>
            <p:txBody>
              <a:bodyPr/>
              <a:lstStyle/>
              <a:p>
                <a:r>
                  <a:rPr lang="en-US" dirty="0" smtClean="0"/>
                  <a:t>Temperature distribution results 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600" dirty="0"/>
                  <a:t> = </a:t>
                </a:r>
                <a:r>
                  <a:rPr lang="en-US" sz="3600" dirty="0" smtClean="0"/>
                  <a:t>0.9)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  <a:blipFill>
                <a:blip r:embed="rId2"/>
                <a:stretch>
                  <a:fillRect t="-34483" b="-47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18191" y="2883495"/>
                <a:ext cx="447021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Graphite Max T : 1317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000" dirty="0" smtClean="0"/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Heat exchanger max T : 430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endParaRPr lang="en-US" sz="2000" dirty="0"/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8191" y="2883495"/>
                <a:ext cx="4470214" cy="1938992"/>
              </a:xfrm>
              <a:prstGeom prst="rect">
                <a:avLst/>
              </a:prstGeom>
              <a:blipFill>
                <a:blip r:embed="rId3"/>
                <a:stretch>
                  <a:fillRect l="-1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51" y="1575303"/>
            <a:ext cx="6997272" cy="466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6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/>
              <p:cNvSpPr>
                <a:spLocks noGrp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</p:spPr>
            <p:txBody>
              <a:bodyPr/>
              <a:lstStyle/>
              <a:p>
                <a:r>
                  <a:rPr lang="en-US" dirty="0"/>
                  <a:t>Temperature distribution results 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600" dirty="0"/>
                  <a:t> = </a:t>
                </a:r>
                <a:r>
                  <a:rPr lang="en-US" sz="3600" dirty="0" smtClean="0"/>
                  <a:t>0.9)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  <a:blipFill>
                <a:blip r:embed="rId2"/>
                <a:stretch>
                  <a:fillRect t="-34483" b="-47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530" y="1767414"/>
            <a:ext cx="6369270" cy="42439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74" y="1722492"/>
            <a:ext cx="6251575" cy="416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4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6"/>
              <p:cNvSpPr>
                <a:spLocks noGrp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</p:spPr>
            <p:txBody>
              <a:bodyPr/>
              <a:lstStyle/>
              <a:p>
                <a:r>
                  <a:rPr lang="en-US" dirty="0" smtClean="0"/>
                  <a:t>Thermal stress results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3600" dirty="0"/>
                  <a:t> = </a:t>
                </a:r>
                <a:r>
                  <a:rPr lang="en-US" sz="3600" dirty="0" smtClean="0"/>
                  <a:t>0.9)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8374" y="297489"/>
                <a:ext cx="12788053" cy="532806"/>
              </a:xfrm>
              <a:blipFill>
                <a:blip r:embed="rId2"/>
                <a:stretch>
                  <a:fillRect t="-34483" b="-471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973682" y="1462440"/>
            <a:ext cx="44702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Max thermal stress: 10.3 MPa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154" y="2706997"/>
            <a:ext cx="4787270" cy="316111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487299" y="5954832"/>
            <a:ext cx="3732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Tensile strength from Graphite </a:t>
            </a:r>
            <a:r>
              <a:rPr lang="en-US" dirty="0"/>
              <a:t>JTA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38" y="1693479"/>
            <a:ext cx="6672540" cy="444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0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G Lee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, Slide </a:t>
            </a:r>
            <a:fld id="{35AD4620-7552-4207-8973-898801ED212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8374" y="310153"/>
            <a:ext cx="12788053" cy="507478"/>
          </a:xfrm>
        </p:spPr>
        <p:txBody>
          <a:bodyPr/>
          <a:lstStyle/>
          <a:p>
            <a:r>
              <a:rPr lang="en-US" dirty="0" smtClean="0"/>
              <a:t>Further work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43207" y="1566249"/>
            <a:ext cx="96781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/>
              <a:t>Size optimization to reduce heat exchanger T and Graphite </a:t>
            </a:r>
            <a:r>
              <a:rPr lang="en-US" sz="2000" dirty="0" err="1" smtClean="0"/>
              <a:t>MaxT</a:t>
            </a:r>
            <a:endParaRPr lang="en-US" sz="20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/>
              <a:t>Fluid simulation to know the heat transfer coefficient</a:t>
            </a:r>
            <a:endParaRPr lang="en-US" sz="20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/>
              <a:t>Noble design idea </a:t>
            </a:r>
            <a:r>
              <a:rPr lang="en-US" sz="2000" dirty="0" smtClean="0"/>
              <a:t>investigation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FF0000"/>
                </a:solidFill>
              </a:rPr>
              <a:t>Realistic model design</a:t>
            </a:r>
            <a:endParaRPr lang="en-US" sz="20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FF0000"/>
                </a:solidFill>
              </a:rPr>
              <a:t>Diameter : Nathan design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FF0000"/>
                </a:solidFill>
              </a:rPr>
              <a:t>Thickness : 10 ~ 20 cm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FF0000"/>
                </a:solidFill>
              </a:rPr>
              <a:t>Cooling : Side HXs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FF0000"/>
                </a:solidFill>
              </a:rPr>
              <a:t>Actual depth profiles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31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FRIB3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10_CKG FRIB no-line h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KG FRIB no-line 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KG FRIB no-line h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KG FRIB no-line h 8">
        <a:dk1>
          <a:srgbClr val="000000"/>
        </a:dk1>
        <a:lt1>
          <a:srgbClr val="FFFFFF"/>
        </a:lt1>
        <a:dk2>
          <a:srgbClr val="1F1DE8"/>
        </a:dk2>
        <a:lt2>
          <a:srgbClr val="007469"/>
        </a:lt2>
        <a:accent1>
          <a:srgbClr val="FC0128"/>
        </a:accent1>
        <a:accent2>
          <a:srgbClr val="CF16CE"/>
        </a:accent2>
        <a:accent3>
          <a:srgbClr val="FFFFFF"/>
        </a:accent3>
        <a:accent4>
          <a:srgbClr val="000000"/>
        </a:accent4>
        <a:accent5>
          <a:srgbClr val="FDAAAC"/>
        </a:accent5>
        <a:accent6>
          <a:srgbClr val="BB13BA"/>
        </a:accent6>
        <a:hlink>
          <a:srgbClr val="F39FD1"/>
        </a:hlink>
        <a:folHlink>
          <a:srgbClr val="7C0F5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RIB-PowerPoint-Template-16x9-v5" id="{386E0BD5-C86C-4D62-9771-31771216E89C}" vid="{4ACF4385-ADC6-4C4F-9B7B-D66EF0FAE7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51A918-08D5-449F-8A17-B243F558068D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rchive_x0020_Date xmlns="31ac3772-10db-466f-87b2-5ca6a813de61" xsi:nil="true"/>
    <IconOverlay xmlns="http://schemas.microsoft.com/sharepoint/v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FAECBD9524743810300543FD35949" ma:contentTypeVersion="12" ma:contentTypeDescription="Create a new document." ma:contentTypeScope="" ma:versionID="4e1ce8c434ccf00c254609ea64994656">
  <xsd:schema xmlns:xsd="http://www.w3.org/2001/XMLSchema" xmlns:xs="http://www.w3.org/2001/XMLSchema" xmlns:p="http://schemas.microsoft.com/office/2006/metadata/properties" xmlns:ns2="31ac3772-10db-466f-87b2-5ca6a813de61" xmlns:ns3="http://schemas.microsoft.com/sharepoint/v4" xmlns:ns4="eabd35fa-70f7-4707-bb94-f0fb9d38b1ac" targetNamespace="http://schemas.microsoft.com/office/2006/metadata/properties" ma:root="true" ma:fieldsID="898c19f0ea3f647f1e89aefed0092a7b" ns2:_="" ns3:_="" ns4:_="">
    <xsd:import namespace="31ac3772-10db-466f-87b2-5ca6a813de61"/>
    <xsd:import namespace="http://schemas.microsoft.com/sharepoint/v4"/>
    <xsd:import namespace="eabd35fa-70f7-4707-bb94-f0fb9d38b1ac"/>
    <xsd:element name="properties">
      <xsd:complexType>
        <xsd:sequence>
          <xsd:element name="documentManagement">
            <xsd:complexType>
              <xsd:all>
                <xsd:element ref="ns2:Archive_x0020_Date" minOccurs="0"/>
                <xsd:element ref="ns3:IconOverlay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ac3772-10db-466f-87b2-5ca6a813de61" elementFormDefault="qualified">
    <xsd:import namespace="http://schemas.microsoft.com/office/2006/documentManagement/types"/>
    <xsd:import namespace="http://schemas.microsoft.com/office/infopath/2007/PartnerControls"/>
    <xsd:element name="Archive_x0020_Date" ma:index="8" nillable="true" ma:displayName="Archive Date" ma:format="DateOnly" ma:internalName="Archive_x0020_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bd35fa-70f7-4707-bb94-f0fb9d38b1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04514C-E1EA-4DB1-85FB-832E60D4A4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18382-7B1A-46A6-9E5B-B59119FCF067}">
  <ds:schemaRefs>
    <ds:schemaRef ds:uri="http://purl.org/dc/elements/1.1/"/>
    <ds:schemaRef ds:uri="http://purl.org/dc/dcmitype/"/>
    <ds:schemaRef ds:uri="http://purl.org/dc/terms/"/>
    <ds:schemaRef ds:uri="http://schemas.microsoft.com/sharepoint/v4"/>
    <ds:schemaRef ds:uri="http://schemas.microsoft.com/office/2006/documentManagement/types"/>
    <ds:schemaRef ds:uri="http://schemas.openxmlformats.org/package/2006/metadata/core-properties"/>
    <ds:schemaRef ds:uri="31ac3772-10db-466f-87b2-5ca6a813de61"/>
    <ds:schemaRef ds:uri="http://www.w3.org/XML/1998/namespace"/>
    <ds:schemaRef ds:uri="eabd35fa-70f7-4707-bb94-f0fb9d38b1ac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D8170BE-7DDA-48D5-AC64-64C484AAB4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ac3772-10db-466f-87b2-5ca6a813de61"/>
    <ds:schemaRef ds:uri="http://schemas.microsoft.com/sharepoint/v4"/>
    <ds:schemaRef ds:uri="eabd35fa-70f7-4707-bb94-f0fb9d38b1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105030</TotalTime>
  <Words>261</Words>
  <Application>Microsoft Office PowerPoint</Application>
  <PresentationFormat>Custom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ＭＳ Ｐゴシック</vt:lpstr>
      <vt:lpstr>Arial</vt:lpstr>
      <vt:lpstr>Calibri</vt:lpstr>
      <vt:lpstr>Cambria Math</vt:lpstr>
      <vt:lpstr>Helvetica</vt:lpstr>
      <vt:lpstr>Lucida Grande</vt:lpstr>
      <vt:lpstr>Wingdings</vt:lpstr>
      <vt:lpstr>ヒラギノ角ゴ Pro W3</vt:lpstr>
      <vt:lpstr>2_FRIB3</vt:lpstr>
      <vt:lpstr>Graphite rotating beam dump</vt:lpstr>
      <vt:lpstr>Conditions</vt:lpstr>
      <vt:lpstr>Temperature distribution results (ε = 0.1)</vt:lpstr>
      <vt:lpstr>Temperature distribution results (ε = 0.1)</vt:lpstr>
      <vt:lpstr>Thermal stress results (ε = 0.1)</vt:lpstr>
      <vt:lpstr>Temperature distribution results (ε = 0.9)</vt:lpstr>
      <vt:lpstr>Temperature distribution results (ε = 0.9)</vt:lpstr>
      <vt:lpstr>Thermal stress results (ε = 0.9)</vt:lpstr>
      <vt:lpstr>Further work</vt:lpstr>
    </vt:vector>
  </TitlesOfParts>
  <Company>FRIB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FRIB User Facility Overview</dc:title>
  <dc:creator>Lee, Geunhyeong</dc:creator>
  <cp:lastModifiedBy>Lee, Geunhyeong</cp:lastModifiedBy>
  <cp:revision>1552</cp:revision>
  <cp:lastPrinted>2018-07-13T15:20:28Z</cp:lastPrinted>
  <dcterms:created xsi:type="dcterms:W3CDTF">2016-02-09T17:27:26Z</dcterms:created>
  <dcterms:modified xsi:type="dcterms:W3CDTF">2024-04-18T18:00:33Z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0x010100CF5FAECBD9524743810300543FD35949</vt:lpwstr>
  </property>
  <property fmtid="{D5CDD505-2E9C-101B-9397-08002B2CF9AE}" pid="3" name="Order">
    <vt:r8>7708800</vt:r8>
  </property>
</Properties>
</file>